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6" d="100"/>
          <a:sy n="76" d="100"/>
        </p:scale>
        <p:origin x="91" y="101"/>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arthik pamulapati" userId="9bc0e4d158937d22" providerId="LiveId" clId="{2B5C7D74-72C7-4437-BDA8-626CEA43770A}"/>
    <pc:docChg chg="custSel modSld">
      <pc:chgData name="karthik pamulapati" userId="9bc0e4d158937d22" providerId="LiveId" clId="{2B5C7D74-72C7-4437-BDA8-626CEA43770A}" dt="2026-07-31T11:50:58.660" v="187" actId="1076"/>
      <pc:docMkLst>
        <pc:docMk/>
      </pc:docMkLst>
      <pc:sldChg chg="modSp mod">
        <pc:chgData name="karthik pamulapati" userId="9bc0e4d158937d22" providerId="LiveId" clId="{2B5C7D74-72C7-4437-BDA8-626CEA43770A}" dt="2026-07-31T11:50:23.531" v="181" actId="1036"/>
        <pc:sldMkLst>
          <pc:docMk/>
          <pc:sldMk cId="0" sldId="256"/>
        </pc:sldMkLst>
        <pc:spChg chg="mod">
          <ac:chgData name="karthik pamulapati" userId="9bc0e4d158937d22" providerId="LiveId" clId="{2B5C7D74-72C7-4437-BDA8-626CEA43770A}" dt="2026-07-31T11:50:23.531" v="181" actId="1036"/>
          <ac:spMkLst>
            <pc:docMk/>
            <pc:sldMk cId="0" sldId="256"/>
            <ac:spMk id="2" creationId="{00000000-0000-0000-0000-000000000000}"/>
          </ac:spMkLst>
        </pc:spChg>
        <pc:spChg chg="mod">
          <ac:chgData name="karthik pamulapati" userId="9bc0e4d158937d22" providerId="LiveId" clId="{2B5C7D74-72C7-4437-BDA8-626CEA43770A}" dt="2026-07-31T11:50:18.239" v="180" actId="20577"/>
          <ac:spMkLst>
            <pc:docMk/>
            <pc:sldMk cId="0" sldId="256"/>
            <ac:spMk id="4" creationId="{00000000-0000-0000-0000-000000000000}"/>
          </ac:spMkLst>
        </pc:spChg>
      </pc:sldChg>
      <pc:sldChg chg="delSp modSp mod">
        <pc:chgData name="karthik pamulapati" userId="9bc0e4d158937d22" providerId="LiveId" clId="{2B5C7D74-72C7-4437-BDA8-626CEA43770A}" dt="2026-07-31T11:50:58.660" v="187" actId="1076"/>
        <pc:sldMkLst>
          <pc:docMk/>
          <pc:sldMk cId="0" sldId="272"/>
        </pc:sldMkLst>
        <pc:spChg chg="mod">
          <ac:chgData name="karthik pamulapati" userId="9bc0e4d158937d22" providerId="LiveId" clId="{2B5C7D74-72C7-4437-BDA8-626CEA43770A}" dt="2026-07-31T11:50:58.660" v="187" actId="1076"/>
          <ac:spMkLst>
            <pc:docMk/>
            <pc:sldMk cId="0" sldId="272"/>
            <ac:spMk id="2" creationId="{00000000-0000-0000-0000-000000000000}"/>
          </ac:spMkLst>
        </pc:spChg>
        <pc:spChg chg="del">
          <ac:chgData name="karthik pamulapati" userId="9bc0e4d158937d22" providerId="LiveId" clId="{2B5C7D74-72C7-4437-BDA8-626CEA43770A}" dt="2026-07-31T11:50:47.738" v="185" actId="478"/>
          <ac:spMkLst>
            <pc:docMk/>
            <pc:sldMk cId="0" sldId="272"/>
            <ac:spMk id="3" creationId="{00000000-0000-0000-0000-000000000000}"/>
          </ac:spMkLst>
        </pc:spChg>
        <pc:spChg chg="del mod">
          <ac:chgData name="karthik pamulapati" userId="9bc0e4d158937d22" providerId="LiveId" clId="{2B5C7D74-72C7-4437-BDA8-626CEA43770A}" dt="2026-07-31T11:50:52.873" v="186" actId="478"/>
          <ac:spMkLst>
            <pc:docMk/>
            <pc:sldMk cId="0" sldId="272"/>
            <ac:spMk id="4"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708370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Good morning/afternoon respected guide, panel members, and peers. I am Pamulapati Karthik from the Department of Computer Science &amp; Engineering. Today, I am excited to present my project titled 'AI-Powered Customer Support and Ticket Management System'. This project addresses the key challenges in modern customer service by combining instant AI chatbot assistance with automated ticket management.</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Customer support is the frontline of customer retention. However, traditional manual support models struggle with volume spikes, high cost, and slow turnaround times. AI technology changes this dynamic by offering instant, 24/7 contextual answers. By integrating Large Language Models and Retrieval-Augmented Generation, businesses can resolve up to 80% of repetitive inquiries automatically while escalating complex cases seamlessly.</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Businesses face a dilemma: customers expect instant 24/7 assistance, but scaling human support teams is prohibitively expensive. Furthermore, forcing customers to create an account just to ask a basic pre-sales question leads to high drop-off. When basic chatbots fail, they leave users stranded without auto-generating structured support tickets. Our project directly solves this problem.</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primary objectives of this project are: first, automate responses to routine customer questions; second, eliminate login barriers for visitors; third, reduce response times from hours to seconds; fourth, guarantee that unresolved issues cleanly escalate to support tickets; and fifth, equip managers with a centralized dashboard and analytics.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Existing legacy systems rely on manual ticketing or basic decision-tree rule bots. Rule bots break whenever a user phrases a query naturally, while manual queues force users to wait up to 48 hours for simple answers. Additionally, requiring account registration before answering a basic question creates unnecessary friction for users.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Our proposed solution introduces a unified AI platform: 1) Instant guest access to a ChatGPT-style assistant powered by real LLM APIs and local Knowledge Base RAG; 2) Intelligent automated ticket escalation whenever the AI's confidence is under threshold; and 3) A secure Admin Management Console where managers review analytics, handle tickets, and update published FAQs.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 we see the end-to-end system architecture. Public visitors interact with the Web App frontend. The Flask Backend routes messages to the AI Engine, which first performs a Retrieval-Augmented Generation search against local Knowledge Base FAQs before calling external LLMs. The database layer uses SQLAlchemy for SQLite or PostgreSQL, and the Admin Console provides secure session control via Flask-Login.</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Our technical stack is modern and lightweight: Python 3.12 and Flask for the backend API; Flask-SQLAlchemy for database ORM with zero-migration auto-schema creation; Bootstrap 5 and Glassmorphism dark mode for the frontend UI; and multi-provider AI support covering OpenAI, Gemini, Ollama, and local fallbacks, deployed on Render with Gunicorn.</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database relational model comprises 6 core tables: Admin (stores hashed admin credentials), ChatSession and Message (track conversation context), Ticket (stores guest tickets with generated Ticket IDs), KnowledgeBase (stores published FAQs for RAG search), and ActivityLog (audit trail for admin actions). Schema creation is completely automated on app startup via db.create_all().</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outlines the 5-step operational workflow. 1) The visitor asks a question; 2) The RAG module checks Knowledge Base FAQs; 3) If unmatched, the LLM processes the query with session context; 4) If AI confidence is low, a ticket modal opens automatically; 5) The administrator manages and resolves the ticket in the admin console.</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Customer Module is designed for zero friction: public visitors immediately interact with an intuitive ChatGPT-style chatbot on page load. When an issue requires human attention, a simple ticket form modal captures contact details and issues a unique Ticket ID without asking the user to create an account.</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Admin Module provides complete operational control: secure Flask-Login authentication, a comprehensive dashboard displaying real-time metrics, ticket threading and status updates, Knowledge Base FAQ publishing, Chart.js analytics graphs, and one-click CSV report exports.</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Key features include real-time AI responses with markdown formatting and conversation memory, automated ticket creation with unique tracking IDs, modern glassmorphic dark mode styling, and built-in CSV report exporting alongside Chart.js analytics.</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advantages of this architecture are clear: zero login friction keeps visitors engaged; automated AI and RAG FAQ search cut support costs by resolving up to 80% of repetitive tickets; and zero-migration schema auto-creation eliminates database deployment headaches.</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Future enhancements include integrating voice-based interaction, multi-language localization, dedicated native mobile applications, and predictive machine learning models to forecast ticket volume and prevent SLA breaches.</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 conclusion, this project demonstrates how combining Large Language Models, Knowledge Base RAG retrieval, and clean web engineering can transform customer support operations. We achieved an intuitive, zero-friction customer experience, automated escalation, and robust admin management, all built on a zero-migration, production-ready architecture.</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Thank you very much for your time, guidance, and attention throughout this presentation. I am now open to your questions, feedback, and project review.</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7/31/2026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7/31/2026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7/31/2026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7/31/2026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7/31/2026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7/31/2026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2043"/>
        </a:solidFill>
        <a:effectLst/>
      </p:bgPr>
    </p:bg>
    <p:spTree>
      <p:nvGrpSpPr>
        <p:cNvPr id="1" name=""/>
        <p:cNvGrpSpPr/>
        <p:nvPr/>
      </p:nvGrpSpPr>
      <p:grpSpPr>
        <a:xfrm>
          <a:off x="0" y="0"/>
          <a:ext cx="0" cy="0"/>
          <a:chOff x="0" y="0"/>
          <a:chExt cx="0" cy="0"/>
        </a:xfrm>
      </p:grpSpPr>
      <p:sp>
        <p:nvSpPr>
          <p:cNvPr id="2" name="TextBox 1"/>
          <p:cNvSpPr txBox="1"/>
          <p:nvPr/>
        </p:nvSpPr>
        <p:spPr>
          <a:xfrm>
            <a:off x="914400" y="1107328"/>
            <a:ext cx="10362895" cy="2011680"/>
          </a:xfrm>
          <a:prstGeom prst="rect">
            <a:avLst/>
          </a:prstGeom>
          <a:noFill/>
        </p:spPr>
        <p:txBody>
          <a:bodyPr wrap="square">
            <a:spAutoFit/>
          </a:bodyPr>
          <a:lstStyle/>
          <a:p>
            <a:pPr>
              <a:spcAft>
                <a:spcPts val="1000"/>
              </a:spcAft>
              <a:defRPr sz="3400" b="1">
                <a:solidFill>
                  <a:srgbClr val="FFFFFF"/>
                </a:solidFill>
                <a:latin typeface="Arial"/>
              </a:defRPr>
            </a:pPr>
            <a:r>
              <a:t>AI-Powered Customer Support &amp; Ticket Management System</a:t>
            </a:r>
          </a:p>
          <a:p>
            <a:pPr>
              <a:defRPr sz="1600">
                <a:solidFill>
                  <a:srgbClr val="0EA5E9"/>
                </a:solidFill>
                <a:latin typeface="Arial"/>
              </a:defRPr>
            </a:pPr>
            <a:r>
              <a:t>A Modern, Production-Ready Customer Support Platform with Instant AI Assistance &amp; Automated Escalation</a:t>
            </a:r>
          </a:p>
        </p:txBody>
      </p:sp>
      <p:sp>
        <p:nvSpPr>
          <p:cNvPr id="3" name="Rounded Rectangle 2"/>
          <p:cNvSpPr/>
          <p:nvPr/>
        </p:nvSpPr>
        <p:spPr>
          <a:xfrm>
            <a:off x="914400" y="3474720"/>
            <a:ext cx="10362895" cy="2560320"/>
          </a:xfrm>
          <a:prstGeom prst="roundRect">
            <a:avLst/>
          </a:prstGeom>
          <a:solidFill>
            <a:srgbClr val="1A2B50"/>
          </a:solidFill>
          <a:ln>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188720" y="3657600"/>
            <a:ext cx="9784080" cy="1754326"/>
          </a:xfrm>
          <a:prstGeom prst="rect">
            <a:avLst/>
          </a:prstGeom>
          <a:noFill/>
        </p:spPr>
        <p:txBody>
          <a:bodyPr wrap="square">
            <a:spAutoFit/>
          </a:bodyPr>
          <a:lstStyle/>
          <a:p>
            <a:endParaRPr dirty="0"/>
          </a:p>
          <a:p>
            <a:pPr>
              <a:spcAft>
                <a:spcPts val="600"/>
              </a:spcAft>
            </a:pPr>
            <a:r>
              <a:rPr sz="1400" b="1" dirty="0">
                <a:solidFill>
                  <a:srgbClr val="0EA5E9"/>
                </a:solidFill>
              </a:rPr>
              <a:t>Student Name:      </a:t>
            </a:r>
            <a:r>
              <a:rPr sz="1400" dirty="0">
                <a:solidFill>
                  <a:srgbClr val="FFFFFF"/>
                </a:solidFill>
              </a:rPr>
              <a:t>Pamulapati Karthik</a:t>
            </a:r>
          </a:p>
          <a:p>
            <a:pPr>
              <a:spcAft>
                <a:spcPts val="600"/>
              </a:spcAft>
            </a:pPr>
            <a:r>
              <a:rPr sz="1400" b="1" dirty="0">
                <a:solidFill>
                  <a:srgbClr val="0EA5E9"/>
                </a:solidFill>
              </a:rPr>
              <a:t>Roll Number:       </a:t>
            </a:r>
            <a:r>
              <a:rPr lang="en-US" sz="1400" b="1" dirty="0">
                <a:solidFill>
                  <a:srgbClr val="FFFFFF"/>
                </a:solidFill>
              </a:rPr>
              <a:t>11142301Cb05035</a:t>
            </a:r>
          </a:p>
          <a:p>
            <a:pPr>
              <a:spcAft>
                <a:spcPts val="600"/>
              </a:spcAft>
            </a:pPr>
            <a:r>
              <a:rPr sz="1400" b="1" dirty="0">
                <a:solidFill>
                  <a:srgbClr val="0EA5E9"/>
                </a:solidFill>
              </a:rPr>
              <a:t>Department:        </a:t>
            </a:r>
            <a:r>
              <a:rPr sz="1400" dirty="0">
                <a:solidFill>
                  <a:srgbClr val="FFFFFF"/>
                </a:solidFill>
              </a:rPr>
              <a:t> (CSE)</a:t>
            </a:r>
            <a:r>
              <a:rPr lang="en-US" sz="1400" dirty="0">
                <a:solidFill>
                  <a:srgbClr val="FFFFFF"/>
                </a:solidFill>
              </a:rPr>
              <a:t>-cybersecurity</a:t>
            </a:r>
            <a:endParaRPr sz="1400" dirty="0">
              <a:solidFill>
                <a:srgbClr val="FFFFFF"/>
              </a:solidFill>
            </a:endParaRPr>
          </a:p>
          <a:p>
            <a:pPr>
              <a:spcAft>
                <a:spcPts val="600"/>
              </a:spcAft>
            </a:pPr>
            <a:r>
              <a:rPr sz="1400" b="1" dirty="0">
                <a:solidFill>
                  <a:srgbClr val="0EA5E9"/>
                </a:solidFill>
              </a:rPr>
              <a:t>College Name:      </a:t>
            </a:r>
            <a:r>
              <a:rPr lang="en-US" sz="1400" b="1" dirty="0" err="1">
                <a:solidFill>
                  <a:srgbClr val="FFFFFF"/>
                </a:solidFill>
              </a:rPr>
              <a:t>prathyusha</a:t>
            </a:r>
            <a:r>
              <a:rPr lang="en-US" sz="1400" b="1" dirty="0">
                <a:solidFill>
                  <a:srgbClr val="FFFFFF"/>
                </a:solidFill>
              </a:rPr>
              <a:t> engineering college</a:t>
            </a:r>
            <a:endParaRPr sz="1400" dirty="0">
              <a:solidFill>
                <a:srgbClr val="FFFFFF"/>
              </a:solidFill>
            </a:endParaRPr>
          </a:p>
          <a:p>
            <a:pPr>
              <a:spcAft>
                <a:spcPts val="600"/>
              </a:spcAft>
            </a:pPr>
            <a:r>
              <a:rPr sz="1400" b="1" dirty="0">
                <a:solidFill>
                  <a:srgbClr val="0EA5E9"/>
                </a:solidFill>
              </a:rPr>
              <a:t>Project Guide:     </a:t>
            </a:r>
            <a:r>
              <a:rPr lang="en-US" sz="1400" b="1" dirty="0" err="1">
                <a:solidFill>
                  <a:srgbClr val="FFFFFF"/>
                </a:solidFill>
              </a:rPr>
              <a:t>venkat</a:t>
            </a:r>
            <a:endParaRPr sz="1400" dirty="0">
              <a:solidFill>
                <a:srgbClr val="FFFFFF"/>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365760"/>
          </a:xfrm>
          <a:prstGeom prst="rect">
            <a:avLst/>
          </a:prstGeom>
          <a:noFill/>
        </p:spPr>
        <p:txBody>
          <a:bodyPr wrap="square">
            <a:spAutoFit/>
          </a:bodyPr>
          <a:lstStyle/>
          <a:p>
            <a:pPr>
              <a:defRPr sz="1000" b="1">
                <a:solidFill>
                  <a:srgbClr val="0EA5E9"/>
                </a:solidFill>
                <a:latin typeface="Arial"/>
              </a:defRPr>
            </a:pPr>
            <a:r>
              <a:t>AI-POWERED CUSTOMER SUPPORT PLATFORM</a:t>
            </a:r>
          </a:p>
        </p:txBody>
      </p:sp>
      <p:sp>
        <p:nvSpPr>
          <p:cNvPr id="3" name="TextBox 2"/>
          <p:cNvSpPr txBox="1"/>
          <p:nvPr/>
        </p:nvSpPr>
        <p:spPr>
          <a:xfrm>
            <a:off x="731520" y="640080"/>
            <a:ext cx="10698480" cy="731520"/>
          </a:xfrm>
          <a:prstGeom prst="rect">
            <a:avLst/>
          </a:prstGeom>
          <a:noFill/>
        </p:spPr>
        <p:txBody>
          <a:bodyPr wrap="square">
            <a:spAutoFit/>
          </a:bodyPr>
          <a:lstStyle/>
          <a:p>
            <a:pPr>
              <a:defRPr sz="2400" b="1">
                <a:solidFill>
                  <a:srgbClr val="0F172A"/>
                </a:solidFill>
                <a:latin typeface="Arial"/>
              </a:defRPr>
            </a:pPr>
            <a:r>
              <a:t>Introduction to Modern AI Customer Support</a:t>
            </a:r>
          </a:p>
        </p:txBody>
      </p:sp>
      <p:sp>
        <p:nvSpPr>
          <p:cNvPr id="4" name="Rounded Rectangle 3"/>
          <p:cNvSpPr/>
          <p:nvPr/>
        </p:nvSpPr>
        <p:spPr>
          <a:xfrm>
            <a:off x="731520" y="1645920"/>
            <a:ext cx="3291840" cy="4572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0" y="1828800"/>
            <a:ext cx="2926080" cy="4206240"/>
          </a:xfrm>
          <a:prstGeom prst="rect">
            <a:avLst/>
          </a:prstGeom>
          <a:noFill/>
        </p:spPr>
        <p:txBody>
          <a:bodyPr wrap="square">
            <a:spAutoFit/>
          </a:bodyPr>
          <a:lstStyle/>
          <a:p>
            <a:pPr>
              <a:spcAft>
                <a:spcPts val="1000"/>
              </a:spcAft>
              <a:defRPr sz="1600" b="1">
                <a:solidFill>
                  <a:srgbClr val="0F172A"/>
                </a:solidFill>
                <a:latin typeface="Arial"/>
              </a:defRPr>
            </a:pPr>
            <a:r>
              <a:t>🌐 Customer Support Overview</a:t>
            </a:r>
          </a:p>
          <a:p>
            <a:pPr>
              <a:spcAft>
                <a:spcPts val="600"/>
              </a:spcAft>
              <a:defRPr sz="1300">
                <a:solidFill>
                  <a:srgbClr val="1E293B"/>
                </a:solidFill>
                <a:latin typeface="Arial"/>
              </a:defRPr>
            </a:pPr>
            <a:r>
              <a:t>•  Customer support is a critical business function that directly drives retention.</a:t>
            </a:r>
          </a:p>
          <a:p>
            <a:pPr>
              <a:spcAft>
                <a:spcPts val="600"/>
              </a:spcAft>
              <a:defRPr sz="1300">
                <a:solidFill>
                  <a:srgbClr val="1E293B"/>
                </a:solidFill>
                <a:latin typeface="Arial"/>
              </a:defRPr>
            </a:pPr>
            <a:r>
              <a:t>•  Traditional support relies heavily on phone calls, static emails, and manual queues.</a:t>
            </a:r>
          </a:p>
          <a:p>
            <a:pPr>
              <a:spcAft>
                <a:spcPts val="600"/>
              </a:spcAft>
              <a:defRPr sz="1300">
                <a:solidFill>
                  <a:srgbClr val="1E293B"/>
                </a:solidFill>
                <a:latin typeface="Arial"/>
              </a:defRPr>
            </a:pPr>
            <a:r>
              <a:t>•  High volume leads to delayed responses and customer dissatisfaction.</a:t>
            </a:r>
          </a:p>
        </p:txBody>
      </p:sp>
      <p:sp>
        <p:nvSpPr>
          <p:cNvPr id="6" name="Rounded Rectangle 5"/>
          <p:cNvSpPr/>
          <p:nvPr/>
        </p:nvSpPr>
        <p:spPr>
          <a:xfrm>
            <a:off x="4389120" y="1645920"/>
            <a:ext cx="3291840" cy="4572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0" y="1828800"/>
            <a:ext cx="2926080" cy="4206240"/>
          </a:xfrm>
          <a:prstGeom prst="rect">
            <a:avLst/>
          </a:prstGeom>
          <a:noFill/>
        </p:spPr>
        <p:txBody>
          <a:bodyPr wrap="square">
            <a:spAutoFit/>
          </a:bodyPr>
          <a:lstStyle/>
          <a:p>
            <a:pPr>
              <a:spcAft>
                <a:spcPts val="1000"/>
              </a:spcAft>
              <a:defRPr sz="1600" b="1">
                <a:solidFill>
                  <a:srgbClr val="0F172A"/>
                </a:solidFill>
                <a:latin typeface="Arial"/>
              </a:defRPr>
            </a:pPr>
            <a:r>
              <a:t>🤖 Role of Artificial Intelligence</a:t>
            </a:r>
          </a:p>
          <a:p>
            <a:pPr>
              <a:spcAft>
                <a:spcPts val="600"/>
              </a:spcAft>
              <a:defRPr sz="1300">
                <a:solidFill>
                  <a:srgbClr val="1E293B"/>
                </a:solidFill>
                <a:latin typeface="Arial"/>
              </a:defRPr>
            </a:pPr>
            <a:r>
              <a:t>•  AI enables instant natural language understanding and automated query resolution.</a:t>
            </a:r>
          </a:p>
          <a:p>
            <a:pPr>
              <a:spcAft>
                <a:spcPts val="600"/>
              </a:spcAft>
              <a:defRPr sz="1300">
                <a:solidFill>
                  <a:srgbClr val="1E293B"/>
                </a:solidFill>
                <a:latin typeface="Arial"/>
              </a:defRPr>
            </a:pPr>
            <a:r>
              <a:t>•  Processes queries 24/7 without fatigue or queue delays.</a:t>
            </a:r>
          </a:p>
          <a:p>
            <a:pPr>
              <a:spcAft>
                <a:spcPts val="600"/>
              </a:spcAft>
              <a:defRPr sz="1300">
                <a:solidFill>
                  <a:srgbClr val="1E293B"/>
                </a:solidFill>
                <a:latin typeface="Arial"/>
              </a:defRPr>
            </a:pPr>
            <a:r>
              <a:t>•  Seamlessly searches internal Knowledge Bases before calling LLMs.</a:t>
            </a:r>
          </a:p>
        </p:txBody>
      </p:sp>
      <p:sp>
        <p:nvSpPr>
          <p:cNvPr id="8" name="Rounded Rectangle 7"/>
          <p:cNvSpPr/>
          <p:nvPr/>
        </p:nvSpPr>
        <p:spPr>
          <a:xfrm>
            <a:off x="8046720" y="1645920"/>
            <a:ext cx="3383280" cy="4572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229600" y="1828800"/>
            <a:ext cx="3017520" cy="4206240"/>
          </a:xfrm>
          <a:prstGeom prst="rect">
            <a:avLst/>
          </a:prstGeom>
          <a:noFill/>
        </p:spPr>
        <p:txBody>
          <a:bodyPr wrap="square">
            <a:spAutoFit/>
          </a:bodyPr>
          <a:lstStyle/>
          <a:p>
            <a:pPr>
              <a:spcAft>
                <a:spcPts val="1000"/>
              </a:spcAft>
              <a:defRPr sz="1600" b="1">
                <a:solidFill>
                  <a:srgbClr val="0F172A"/>
                </a:solidFill>
                <a:latin typeface="Arial"/>
              </a:defRPr>
            </a:pPr>
            <a:r>
              <a:t>🚀 Need for Intelligent Automation</a:t>
            </a:r>
          </a:p>
          <a:p>
            <a:pPr>
              <a:spcAft>
                <a:spcPts val="600"/>
              </a:spcAft>
              <a:defRPr sz="1300">
                <a:solidFill>
                  <a:srgbClr val="1E293B"/>
                </a:solidFill>
                <a:latin typeface="Arial"/>
              </a:defRPr>
            </a:pPr>
            <a:r>
              <a:t>•  Eliminates initial friction by offering instant guest assistance without login barriers.</a:t>
            </a:r>
          </a:p>
          <a:p>
            <a:pPr>
              <a:spcAft>
                <a:spcPts val="600"/>
              </a:spcAft>
              <a:defRPr sz="1300">
                <a:solidFill>
                  <a:srgbClr val="1E293B"/>
                </a:solidFill>
                <a:latin typeface="Arial"/>
              </a:defRPr>
            </a:pPr>
            <a:r>
              <a:t>•  Automates ticket escalation when AI confidence is insufficient.</a:t>
            </a:r>
          </a:p>
          <a:p>
            <a:pPr>
              <a:spcAft>
                <a:spcPts val="600"/>
              </a:spcAft>
              <a:defRPr sz="1300">
                <a:solidFill>
                  <a:srgbClr val="1E293B"/>
                </a:solidFill>
                <a:latin typeface="Arial"/>
              </a:defRPr>
            </a:pPr>
            <a:r>
              <a:t>•  Drastically reduces operational support costs while improving satisfaction.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365760"/>
          </a:xfrm>
          <a:prstGeom prst="rect">
            <a:avLst/>
          </a:prstGeom>
          <a:noFill/>
        </p:spPr>
        <p:txBody>
          <a:bodyPr wrap="square">
            <a:spAutoFit/>
          </a:bodyPr>
          <a:lstStyle/>
          <a:p>
            <a:pPr>
              <a:defRPr sz="1000" b="1">
                <a:solidFill>
                  <a:srgbClr val="0EA5E9"/>
                </a:solidFill>
                <a:latin typeface="Arial"/>
              </a:defRPr>
            </a:pPr>
            <a:r>
              <a:t>AI-POWERED CUSTOMER SUPPORT PLATFORM</a:t>
            </a:r>
          </a:p>
        </p:txBody>
      </p:sp>
      <p:sp>
        <p:nvSpPr>
          <p:cNvPr id="3" name="TextBox 2"/>
          <p:cNvSpPr txBox="1"/>
          <p:nvPr/>
        </p:nvSpPr>
        <p:spPr>
          <a:xfrm>
            <a:off x="731520" y="640080"/>
            <a:ext cx="10698480" cy="731520"/>
          </a:xfrm>
          <a:prstGeom prst="rect">
            <a:avLst/>
          </a:prstGeom>
          <a:noFill/>
        </p:spPr>
        <p:txBody>
          <a:bodyPr wrap="square">
            <a:spAutoFit/>
          </a:bodyPr>
          <a:lstStyle/>
          <a:p>
            <a:pPr>
              <a:defRPr sz="2400" b="1">
                <a:solidFill>
                  <a:srgbClr val="0F172A"/>
                </a:solidFill>
                <a:latin typeface="Arial"/>
              </a:defRPr>
            </a:pPr>
            <a:r>
              <a:t>Problem Statement: Challenges in Support Operations</a:t>
            </a:r>
          </a:p>
        </p:txBody>
      </p:sp>
      <p:sp>
        <p:nvSpPr>
          <p:cNvPr id="4" name="Rounded Rectangle 3"/>
          <p:cNvSpPr/>
          <p:nvPr/>
        </p:nvSpPr>
        <p:spPr>
          <a:xfrm>
            <a:off x="731520" y="1645920"/>
            <a:ext cx="5120640" cy="21945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0" y="1828800"/>
            <a:ext cx="4754880" cy="1828800"/>
          </a:xfrm>
          <a:prstGeom prst="rect">
            <a:avLst/>
          </a:prstGeom>
          <a:noFill/>
        </p:spPr>
        <p:txBody>
          <a:bodyPr wrap="square">
            <a:spAutoFit/>
          </a:bodyPr>
          <a:lstStyle/>
          <a:p>
            <a:pPr>
              <a:spcAft>
                <a:spcPts val="1000"/>
              </a:spcAft>
              <a:defRPr sz="1600" b="1">
                <a:solidFill>
                  <a:srgbClr val="0F172A"/>
                </a:solidFill>
                <a:latin typeface="Arial"/>
              </a:defRPr>
            </a:pPr>
            <a:r>
              <a:t>💸 High Operational Expenses</a:t>
            </a:r>
          </a:p>
          <a:p>
            <a:pPr>
              <a:spcAft>
                <a:spcPts val="600"/>
              </a:spcAft>
              <a:defRPr sz="1300">
                <a:solidFill>
                  <a:srgbClr val="1E293B"/>
                </a:solidFill>
                <a:latin typeface="Arial"/>
              </a:defRPr>
            </a:pPr>
            <a:r>
              <a:t>•  Maintaining 24/7 human agent teams requires substantial budget overhead.</a:t>
            </a:r>
          </a:p>
          <a:p>
            <a:pPr>
              <a:spcAft>
                <a:spcPts val="600"/>
              </a:spcAft>
              <a:defRPr sz="1300">
                <a:solidFill>
                  <a:srgbClr val="1E293B"/>
                </a:solidFill>
                <a:latin typeface="Arial"/>
              </a:defRPr>
            </a:pPr>
            <a:r>
              <a:t>•  Scaling human teams linearly with user growth is economically unsustainable.</a:t>
            </a:r>
          </a:p>
        </p:txBody>
      </p:sp>
      <p:sp>
        <p:nvSpPr>
          <p:cNvPr id="6" name="Rounded Rectangle 5"/>
          <p:cNvSpPr/>
          <p:nvPr/>
        </p:nvSpPr>
        <p:spPr>
          <a:xfrm>
            <a:off x="6217920" y="1645920"/>
            <a:ext cx="5212080" cy="21945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400800" y="1828800"/>
            <a:ext cx="4846320" cy="1828800"/>
          </a:xfrm>
          <a:prstGeom prst="rect">
            <a:avLst/>
          </a:prstGeom>
          <a:noFill/>
        </p:spPr>
        <p:txBody>
          <a:bodyPr wrap="square">
            <a:spAutoFit/>
          </a:bodyPr>
          <a:lstStyle/>
          <a:p>
            <a:pPr>
              <a:spcAft>
                <a:spcPts val="1000"/>
              </a:spcAft>
              <a:defRPr sz="1600" b="1">
                <a:solidFill>
                  <a:srgbClr val="0F172A"/>
                </a:solidFill>
                <a:latin typeface="Arial"/>
              </a:defRPr>
            </a:pPr>
            <a:r>
              <a:t>⏳ Delayed Response &amp; Resolution Times</a:t>
            </a:r>
          </a:p>
          <a:p>
            <a:pPr>
              <a:spcAft>
                <a:spcPts val="600"/>
              </a:spcAft>
              <a:defRPr sz="1300">
                <a:solidFill>
                  <a:srgbClr val="1E293B"/>
                </a:solidFill>
                <a:latin typeface="Arial"/>
              </a:defRPr>
            </a:pPr>
            <a:r>
              <a:t>•  Customers wait hours or days for responses to routine inquiries.</a:t>
            </a:r>
          </a:p>
          <a:p>
            <a:pPr>
              <a:spcAft>
                <a:spcPts val="600"/>
              </a:spcAft>
              <a:defRPr sz="1300">
                <a:solidFill>
                  <a:srgbClr val="1E293B"/>
                </a:solidFill>
                <a:latin typeface="Arial"/>
              </a:defRPr>
            </a:pPr>
            <a:r>
              <a:t>•  Peak hour surges cause massive ticket backlogs and customer churn.</a:t>
            </a:r>
          </a:p>
        </p:txBody>
      </p:sp>
      <p:sp>
        <p:nvSpPr>
          <p:cNvPr id="8" name="Rounded Rectangle 7"/>
          <p:cNvSpPr/>
          <p:nvPr/>
        </p:nvSpPr>
        <p:spPr>
          <a:xfrm>
            <a:off x="731520" y="4114800"/>
            <a:ext cx="5120640" cy="21945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14400" y="4297680"/>
            <a:ext cx="4754880" cy="1828800"/>
          </a:xfrm>
          <a:prstGeom prst="rect">
            <a:avLst/>
          </a:prstGeom>
          <a:noFill/>
        </p:spPr>
        <p:txBody>
          <a:bodyPr wrap="square">
            <a:spAutoFit/>
          </a:bodyPr>
          <a:lstStyle/>
          <a:p>
            <a:pPr>
              <a:spcAft>
                <a:spcPts val="1000"/>
              </a:spcAft>
              <a:defRPr sz="1600" b="1">
                <a:solidFill>
                  <a:srgbClr val="0F172A"/>
                </a:solidFill>
                <a:latin typeface="Arial"/>
              </a:defRPr>
            </a:pPr>
            <a:r>
              <a:t>🚪 High Customer Onboarding Friction</a:t>
            </a:r>
          </a:p>
          <a:p>
            <a:pPr>
              <a:spcAft>
                <a:spcPts val="600"/>
              </a:spcAft>
              <a:defRPr sz="1300">
                <a:solidFill>
                  <a:srgbClr val="1E293B"/>
                </a:solidFill>
                <a:latin typeface="Arial"/>
              </a:defRPr>
            </a:pPr>
            <a:r>
              <a:t>•  Forcing users to register/log in just to ask a simple pre-sale question leads to high drop-off.</a:t>
            </a:r>
          </a:p>
          <a:p>
            <a:pPr>
              <a:spcAft>
                <a:spcPts val="600"/>
              </a:spcAft>
              <a:defRPr sz="1300">
                <a:solidFill>
                  <a:srgbClr val="1E293B"/>
                </a:solidFill>
                <a:latin typeface="Arial"/>
              </a:defRPr>
            </a:pPr>
            <a:r>
              <a:t>•  Inconsistent answers across human support staff degrade brand trust.</a:t>
            </a:r>
          </a:p>
        </p:txBody>
      </p:sp>
      <p:sp>
        <p:nvSpPr>
          <p:cNvPr id="10" name="Rounded Rectangle 9"/>
          <p:cNvSpPr/>
          <p:nvPr/>
        </p:nvSpPr>
        <p:spPr>
          <a:xfrm>
            <a:off x="6217920" y="4114800"/>
            <a:ext cx="5212080" cy="21945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00800" y="4297680"/>
            <a:ext cx="4846320" cy="1828800"/>
          </a:xfrm>
          <a:prstGeom prst="rect">
            <a:avLst/>
          </a:prstGeom>
          <a:noFill/>
        </p:spPr>
        <p:txBody>
          <a:bodyPr wrap="square">
            <a:spAutoFit/>
          </a:bodyPr>
          <a:lstStyle/>
          <a:p>
            <a:pPr>
              <a:spcAft>
                <a:spcPts val="1000"/>
              </a:spcAft>
              <a:defRPr sz="1600" b="1">
                <a:solidFill>
                  <a:srgbClr val="0F172A"/>
                </a:solidFill>
                <a:latin typeface="Arial"/>
              </a:defRPr>
            </a:pPr>
            <a:r>
              <a:t>⚠️ Lack of Unified Ticket Escalation</a:t>
            </a:r>
          </a:p>
          <a:p>
            <a:pPr>
              <a:spcAft>
                <a:spcPts val="600"/>
              </a:spcAft>
              <a:defRPr sz="1300">
                <a:solidFill>
                  <a:srgbClr val="1E293B"/>
                </a:solidFill>
                <a:latin typeface="Arial"/>
              </a:defRPr>
            </a:pPr>
            <a:r>
              <a:t>•  Traditional chatbots fail silently without creating actionable tickets.</a:t>
            </a:r>
          </a:p>
          <a:p>
            <a:pPr>
              <a:spcAft>
                <a:spcPts val="600"/>
              </a:spcAft>
              <a:defRPr sz="1300">
                <a:solidFill>
                  <a:srgbClr val="1E293B"/>
                </a:solidFill>
                <a:latin typeface="Arial"/>
              </a:defRPr>
            </a:pPr>
            <a:r>
              <a:t>•  Support managers lack central analytics to monitor resolution velocity.</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365760"/>
          </a:xfrm>
          <a:prstGeom prst="rect">
            <a:avLst/>
          </a:prstGeom>
          <a:noFill/>
        </p:spPr>
        <p:txBody>
          <a:bodyPr wrap="square">
            <a:spAutoFit/>
          </a:bodyPr>
          <a:lstStyle/>
          <a:p>
            <a:pPr>
              <a:defRPr sz="1000" b="1">
                <a:solidFill>
                  <a:srgbClr val="0EA5E9"/>
                </a:solidFill>
                <a:latin typeface="Arial"/>
              </a:defRPr>
            </a:pPr>
            <a:r>
              <a:t>AI-POWERED CUSTOMER SUPPORT PLATFORM</a:t>
            </a:r>
          </a:p>
        </p:txBody>
      </p:sp>
      <p:sp>
        <p:nvSpPr>
          <p:cNvPr id="3" name="TextBox 2"/>
          <p:cNvSpPr txBox="1"/>
          <p:nvPr/>
        </p:nvSpPr>
        <p:spPr>
          <a:xfrm>
            <a:off x="731520" y="640080"/>
            <a:ext cx="10698480" cy="731520"/>
          </a:xfrm>
          <a:prstGeom prst="rect">
            <a:avLst/>
          </a:prstGeom>
          <a:noFill/>
        </p:spPr>
        <p:txBody>
          <a:bodyPr wrap="square">
            <a:spAutoFit/>
          </a:bodyPr>
          <a:lstStyle/>
          <a:p>
            <a:pPr>
              <a:defRPr sz="2400" b="1">
                <a:solidFill>
                  <a:srgbClr val="0F172A"/>
                </a:solidFill>
                <a:latin typeface="Arial"/>
              </a:defRPr>
            </a:pPr>
            <a:r>
              <a:t>Project Objectives &amp; Key Goals</a:t>
            </a:r>
          </a:p>
        </p:txBody>
      </p:sp>
      <p:sp>
        <p:nvSpPr>
          <p:cNvPr id="4" name="Rounded Rectangle 3"/>
          <p:cNvSpPr/>
          <p:nvPr/>
        </p:nvSpPr>
        <p:spPr>
          <a:xfrm>
            <a:off x="731520" y="1645920"/>
            <a:ext cx="10698480" cy="7772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0" y="1737360"/>
            <a:ext cx="10332720" cy="594360"/>
          </a:xfrm>
          <a:prstGeom prst="rect">
            <a:avLst/>
          </a:prstGeom>
          <a:noFill/>
        </p:spPr>
        <p:txBody>
          <a:bodyPr wrap="square">
            <a:spAutoFit/>
          </a:bodyPr>
          <a:lstStyle/>
          <a:p>
            <a:r>
              <a:rPr sz="1400" b="1">
                <a:solidFill>
                  <a:srgbClr val="0EA5E9"/>
                </a:solidFill>
              </a:rPr>
              <a:t>🎯 1. Automate Customer Support: </a:t>
            </a:r>
            <a:r>
              <a:rPr sz="1300">
                <a:solidFill>
                  <a:srgbClr val="1E293B"/>
                </a:solidFill>
              </a:rPr>
              <a:t>Deploy an intelligent virtual assistant capable of resolving repetitive product and technical queries instantly.</a:t>
            </a:r>
          </a:p>
        </p:txBody>
      </p:sp>
      <p:sp>
        <p:nvSpPr>
          <p:cNvPr id="6" name="Rounded Rectangle 5"/>
          <p:cNvSpPr/>
          <p:nvPr/>
        </p:nvSpPr>
        <p:spPr>
          <a:xfrm>
            <a:off x="731520" y="2560320"/>
            <a:ext cx="10698480" cy="7772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2651760"/>
            <a:ext cx="10332720" cy="594360"/>
          </a:xfrm>
          <a:prstGeom prst="rect">
            <a:avLst/>
          </a:prstGeom>
          <a:noFill/>
        </p:spPr>
        <p:txBody>
          <a:bodyPr wrap="square">
            <a:spAutoFit/>
          </a:bodyPr>
          <a:lstStyle/>
          <a:p>
            <a:r>
              <a:rPr sz="1400" b="1">
                <a:solidFill>
                  <a:srgbClr val="0EA5E9"/>
                </a:solidFill>
              </a:rPr>
              <a:t>🎯 2. Zero-Friction Access: </a:t>
            </a:r>
            <a:r>
              <a:rPr sz="1300">
                <a:solidFill>
                  <a:srgbClr val="1E293B"/>
                </a:solidFill>
              </a:rPr>
              <a:t>Enable immediate guest access on homepage load without requiring customer login or account creation.</a:t>
            </a:r>
          </a:p>
        </p:txBody>
      </p:sp>
      <p:sp>
        <p:nvSpPr>
          <p:cNvPr id="8" name="Rounded Rectangle 7"/>
          <p:cNvSpPr/>
          <p:nvPr/>
        </p:nvSpPr>
        <p:spPr>
          <a:xfrm>
            <a:off x="731520" y="3474720"/>
            <a:ext cx="10698480" cy="7772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14400" y="3566160"/>
            <a:ext cx="10332720" cy="594360"/>
          </a:xfrm>
          <a:prstGeom prst="rect">
            <a:avLst/>
          </a:prstGeom>
          <a:noFill/>
        </p:spPr>
        <p:txBody>
          <a:bodyPr wrap="square">
            <a:spAutoFit/>
          </a:bodyPr>
          <a:lstStyle/>
          <a:p>
            <a:r>
              <a:rPr sz="1400" b="1">
                <a:solidFill>
                  <a:srgbClr val="0EA5E9"/>
                </a:solidFill>
              </a:rPr>
              <a:t>🎯 3. Drastic Response Reduction: </a:t>
            </a:r>
            <a:r>
              <a:rPr sz="1300">
                <a:solidFill>
                  <a:srgbClr val="1E293B"/>
                </a:solidFill>
              </a:rPr>
              <a:t>Cut average query response time from hours to under 2 seconds using RAG Knowledge Base and real LLM integration.</a:t>
            </a:r>
          </a:p>
        </p:txBody>
      </p:sp>
      <p:sp>
        <p:nvSpPr>
          <p:cNvPr id="10" name="Rounded Rectangle 9"/>
          <p:cNvSpPr/>
          <p:nvPr/>
        </p:nvSpPr>
        <p:spPr>
          <a:xfrm>
            <a:off x="731520" y="4389120"/>
            <a:ext cx="10698480" cy="7772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14400" y="4480560"/>
            <a:ext cx="10332720" cy="594360"/>
          </a:xfrm>
          <a:prstGeom prst="rect">
            <a:avLst/>
          </a:prstGeom>
          <a:noFill/>
        </p:spPr>
        <p:txBody>
          <a:bodyPr wrap="square">
            <a:spAutoFit/>
          </a:bodyPr>
          <a:lstStyle/>
          <a:p>
            <a:r>
              <a:rPr sz="1400" b="1">
                <a:solidFill>
                  <a:srgbClr val="0EA5E9"/>
                </a:solidFill>
              </a:rPr>
              <a:t>🎯 4. Automated Ticket Generation: </a:t>
            </a:r>
            <a:r>
              <a:rPr sz="1300">
                <a:solidFill>
                  <a:srgbClr val="1E293B"/>
                </a:solidFill>
              </a:rPr>
              <a:t>Automatically prompt and generate structured support tickets with unique IDs when AI confidence is under threshold.</a:t>
            </a:r>
          </a:p>
        </p:txBody>
      </p:sp>
      <p:sp>
        <p:nvSpPr>
          <p:cNvPr id="12" name="Rounded Rectangle 11"/>
          <p:cNvSpPr/>
          <p:nvPr/>
        </p:nvSpPr>
        <p:spPr>
          <a:xfrm>
            <a:off x="731520" y="5303520"/>
            <a:ext cx="10698480" cy="7772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14400" y="5394960"/>
            <a:ext cx="10332720" cy="594360"/>
          </a:xfrm>
          <a:prstGeom prst="rect">
            <a:avLst/>
          </a:prstGeom>
          <a:noFill/>
        </p:spPr>
        <p:txBody>
          <a:bodyPr wrap="square">
            <a:spAutoFit/>
          </a:bodyPr>
          <a:lstStyle/>
          <a:p>
            <a:r>
              <a:rPr sz="1400" b="1">
                <a:solidFill>
                  <a:srgbClr val="0EA5E9"/>
                </a:solidFill>
              </a:rPr>
              <a:t>🎯 5. Centralized Admin Console: </a:t>
            </a:r>
            <a:r>
              <a:rPr sz="1300">
                <a:solidFill>
                  <a:srgbClr val="1E293B"/>
                </a:solidFill>
              </a:rPr>
              <a:t>Provide administrators with full ticket lifecycle control, Chart.js analytics, and CSV report export capability.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365760"/>
          </a:xfrm>
          <a:prstGeom prst="rect">
            <a:avLst/>
          </a:prstGeom>
          <a:noFill/>
        </p:spPr>
        <p:txBody>
          <a:bodyPr wrap="square">
            <a:spAutoFit/>
          </a:bodyPr>
          <a:lstStyle/>
          <a:p>
            <a:pPr>
              <a:defRPr sz="1000" b="1">
                <a:solidFill>
                  <a:srgbClr val="0EA5E9"/>
                </a:solidFill>
                <a:latin typeface="Arial"/>
              </a:defRPr>
            </a:pPr>
            <a:r>
              <a:t>AI-POWERED CUSTOMER SUPPORT PLATFORM</a:t>
            </a:r>
          </a:p>
        </p:txBody>
      </p:sp>
      <p:sp>
        <p:nvSpPr>
          <p:cNvPr id="3" name="TextBox 2"/>
          <p:cNvSpPr txBox="1"/>
          <p:nvPr/>
        </p:nvSpPr>
        <p:spPr>
          <a:xfrm>
            <a:off x="731520" y="640080"/>
            <a:ext cx="10698480" cy="731520"/>
          </a:xfrm>
          <a:prstGeom prst="rect">
            <a:avLst/>
          </a:prstGeom>
          <a:noFill/>
        </p:spPr>
        <p:txBody>
          <a:bodyPr wrap="square">
            <a:spAutoFit/>
          </a:bodyPr>
          <a:lstStyle/>
          <a:p>
            <a:pPr>
              <a:defRPr sz="2400" b="1">
                <a:solidFill>
                  <a:srgbClr val="0F172A"/>
                </a:solidFill>
                <a:latin typeface="Arial"/>
              </a:defRPr>
            </a:pPr>
            <a:r>
              <a:t>Existing Support Systems vs. Key Limitations</a:t>
            </a:r>
          </a:p>
        </p:txBody>
      </p:sp>
      <p:sp>
        <p:nvSpPr>
          <p:cNvPr id="4" name="Rounded Rectangle 3"/>
          <p:cNvSpPr/>
          <p:nvPr/>
        </p:nvSpPr>
        <p:spPr>
          <a:xfrm>
            <a:off x="731520" y="1645920"/>
            <a:ext cx="5120640" cy="4572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0" y="1828800"/>
            <a:ext cx="4754880" cy="4206240"/>
          </a:xfrm>
          <a:prstGeom prst="rect">
            <a:avLst/>
          </a:prstGeom>
          <a:noFill/>
        </p:spPr>
        <p:txBody>
          <a:bodyPr wrap="square">
            <a:spAutoFit/>
          </a:bodyPr>
          <a:lstStyle/>
          <a:p>
            <a:pPr>
              <a:spcAft>
                <a:spcPts val="1000"/>
              </a:spcAft>
              <a:defRPr sz="1600" b="1">
                <a:solidFill>
                  <a:srgbClr val="0F172A"/>
                </a:solidFill>
                <a:latin typeface="Arial"/>
              </a:defRPr>
            </a:pPr>
            <a:r>
              <a:t>❌ Existing Traditional Support Model</a:t>
            </a:r>
          </a:p>
          <a:p>
            <a:pPr>
              <a:spcAft>
                <a:spcPts val="600"/>
              </a:spcAft>
              <a:defRPr sz="1300">
                <a:solidFill>
                  <a:srgbClr val="1E293B"/>
                </a:solidFill>
                <a:latin typeface="Arial"/>
              </a:defRPr>
            </a:pPr>
            <a:r>
              <a:t>•  Relies heavily on manual ticketing portals and email forms.</a:t>
            </a:r>
          </a:p>
          <a:p>
            <a:pPr>
              <a:spcAft>
                <a:spcPts val="600"/>
              </a:spcAft>
              <a:defRPr sz="1300">
                <a:solidFill>
                  <a:srgbClr val="1E293B"/>
                </a:solidFill>
                <a:latin typeface="Arial"/>
              </a:defRPr>
            </a:pPr>
            <a:r>
              <a:t>•  Mandatory user registration required prior to submitting queries.</a:t>
            </a:r>
          </a:p>
          <a:p>
            <a:pPr>
              <a:spcAft>
                <a:spcPts val="600"/>
              </a:spcAft>
              <a:defRPr sz="1300">
                <a:solidFill>
                  <a:srgbClr val="1E293B"/>
                </a:solidFill>
                <a:latin typeface="Arial"/>
              </a:defRPr>
            </a:pPr>
            <a:r>
              <a:t>•  Fixed working hours resulting in weekend and overnight gaps.</a:t>
            </a:r>
          </a:p>
          <a:p>
            <a:pPr>
              <a:spcAft>
                <a:spcPts val="600"/>
              </a:spcAft>
              <a:defRPr sz="1300">
                <a:solidFill>
                  <a:srgbClr val="1E293B"/>
                </a:solidFill>
                <a:latin typeface="Arial"/>
              </a:defRPr>
            </a:pPr>
            <a:r>
              <a:t>•  Static decision-tree rule bots with limited pattern matching.</a:t>
            </a:r>
          </a:p>
          <a:p>
            <a:pPr>
              <a:spcAft>
                <a:spcPts val="600"/>
              </a:spcAft>
              <a:defRPr sz="1300">
                <a:solidFill>
                  <a:srgbClr val="1E293B"/>
                </a:solidFill>
                <a:latin typeface="Arial"/>
              </a:defRPr>
            </a:pPr>
            <a:r>
              <a:t>•  No natural language comprehension or context memory.</a:t>
            </a:r>
          </a:p>
        </p:txBody>
      </p:sp>
      <p:sp>
        <p:nvSpPr>
          <p:cNvPr id="6" name="Rounded Rectangle 5"/>
          <p:cNvSpPr/>
          <p:nvPr/>
        </p:nvSpPr>
        <p:spPr>
          <a:xfrm>
            <a:off x="6217920" y="1645920"/>
            <a:ext cx="5212080" cy="4572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400800" y="1828800"/>
            <a:ext cx="4846320" cy="4206240"/>
          </a:xfrm>
          <a:prstGeom prst="rect">
            <a:avLst/>
          </a:prstGeom>
          <a:noFill/>
        </p:spPr>
        <p:txBody>
          <a:bodyPr wrap="square">
            <a:spAutoFit/>
          </a:bodyPr>
          <a:lstStyle/>
          <a:p>
            <a:pPr>
              <a:spcAft>
                <a:spcPts val="1000"/>
              </a:spcAft>
              <a:defRPr sz="1600" b="1">
                <a:solidFill>
                  <a:srgbClr val="0F172A"/>
                </a:solidFill>
                <a:latin typeface="Arial"/>
              </a:defRPr>
            </a:pPr>
            <a:r>
              <a:t>📉 Operational Consequences</a:t>
            </a:r>
          </a:p>
          <a:p>
            <a:pPr>
              <a:spcAft>
                <a:spcPts val="600"/>
              </a:spcAft>
              <a:defRPr sz="1300">
                <a:solidFill>
                  <a:srgbClr val="1E293B"/>
                </a:solidFill>
                <a:latin typeface="Arial"/>
              </a:defRPr>
            </a:pPr>
            <a:r>
              <a:t>•  High customer churn due to long wait times (24-48 hours).</a:t>
            </a:r>
          </a:p>
          <a:p>
            <a:pPr>
              <a:spcAft>
                <a:spcPts val="600"/>
              </a:spcAft>
              <a:defRPr sz="1300">
                <a:solidFill>
                  <a:srgbClr val="1E293B"/>
                </a:solidFill>
                <a:latin typeface="Arial"/>
              </a:defRPr>
            </a:pPr>
            <a:r>
              <a:t>•  Higher support desk operational budget and agent burnout.</a:t>
            </a:r>
          </a:p>
          <a:p>
            <a:pPr>
              <a:spcAft>
                <a:spcPts val="600"/>
              </a:spcAft>
              <a:defRPr sz="1300">
                <a:solidFill>
                  <a:srgbClr val="1E293B"/>
                </a:solidFill>
                <a:latin typeface="Arial"/>
              </a:defRPr>
            </a:pPr>
            <a:r>
              <a:t>•  High visitor bounce rates caused by mandatory login screens.</a:t>
            </a:r>
          </a:p>
          <a:p>
            <a:pPr>
              <a:spcAft>
                <a:spcPts val="600"/>
              </a:spcAft>
              <a:defRPr sz="1300">
                <a:solidFill>
                  <a:srgbClr val="1E293B"/>
                </a:solidFill>
                <a:latin typeface="Arial"/>
              </a:defRPr>
            </a:pPr>
            <a:r>
              <a:t>•  Frequent frustration when rule bots loop on unrecognized phrases.</a:t>
            </a:r>
          </a:p>
          <a:p>
            <a:pPr>
              <a:spcAft>
                <a:spcPts val="600"/>
              </a:spcAft>
              <a:defRPr sz="1300">
                <a:solidFill>
                  <a:srgbClr val="1E293B"/>
                </a:solidFill>
                <a:latin typeface="Arial"/>
              </a:defRPr>
            </a:pPr>
            <a:r>
              <a:t>•  Inconsistent ticket tracking and fragmented communication.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365760"/>
          </a:xfrm>
          <a:prstGeom prst="rect">
            <a:avLst/>
          </a:prstGeom>
          <a:noFill/>
        </p:spPr>
        <p:txBody>
          <a:bodyPr wrap="square">
            <a:spAutoFit/>
          </a:bodyPr>
          <a:lstStyle/>
          <a:p>
            <a:pPr>
              <a:defRPr sz="1000" b="1">
                <a:solidFill>
                  <a:srgbClr val="0EA5E9"/>
                </a:solidFill>
                <a:latin typeface="Arial"/>
              </a:defRPr>
            </a:pPr>
            <a:r>
              <a:t>AI-POWERED CUSTOMER SUPPORT PLATFORM</a:t>
            </a:r>
          </a:p>
        </p:txBody>
      </p:sp>
      <p:sp>
        <p:nvSpPr>
          <p:cNvPr id="3" name="TextBox 2"/>
          <p:cNvSpPr txBox="1"/>
          <p:nvPr/>
        </p:nvSpPr>
        <p:spPr>
          <a:xfrm>
            <a:off x="731520" y="640080"/>
            <a:ext cx="10698480" cy="731520"/>
          </a:xfrm>
          <a:prstGeom prst="rect">
            <a:avLst/>
          </a:prstGeom>
          <a:noFill/>
        </p:spPr>
        <p:txBody>
          <a:bodyPr wrap="square">
            <a:spAutoFit/>
          </a:bodyPr>
          <a:lstStyle/>
          <a:p>
            <a:pPr>
              <a:defRPr sz="2400" b="1">
                <a:solidFill>
                  <a:srgbClr val="0F172A"/>
                </a:solidFill>
                <a:latin typeface="Arial"/>
              </a:defRPr>
            </a:pPr>
            <a:r>
              <a:t>Proposed System Architecture &amp; Solution</a:t>
            </a:r>
          </a:p>
        </p:txBody>
      </p:sp>
      <p:sp>
        <p:nvSpPr>
          <p:cNvPr id="4" name="Rounded Rectangle 3"/>
          <p:cNvSpPr/>
          <p:nvPr/>
        </p:nvSpPr>
        <p:spPr>
          <a:xfrm>
            <a:off x="731520" y="1645920"/>
            <a:ext cx="3291840" cy="4572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0" y="1828800"/>
            <a:ext cx="2926080" cy="4206240"/>
          </a:xfrm>
          <a:prstGeom prst="rect">
            <a:avLst/>
          </a:prstGeom>
          <a:noFill/>
        </p:spPr>
        <p:txBody>
          <a:bodyPr wrap="square">
            <a:spAutoFit/>
          </a:bodyPr>
          <a:lstStyle/>
          <a:p>
            <a:pPr>
              <a:spcAft>
                <a:spcPts val="1000"/>
              </a:spcAft>
              <a:defRPr sz="1600" b="1">
                <a:solidFill>
                  <a:srgbClr val="0F172A"/>
                </a:solidFill>
                <a:latin typeface="Arial"/>
              </a:defRPr>
            </a:pPr>
            <a:r>
              <a:t>🤖 Instant AI Chatbot Engine</a:t>
            </a:r>
          </a:p>
          <a:p>
            <a:pPr>
              <a:spcAft>
                <a:spcPts val="600"/>
              </a:spcAft>
              <a:defRPr sz="1300">
                <a:solidFill>
                  <a:srgbClr val="1E293B"/>
                </a:solidFill>
                <a:latin typeface="Arial"/>
              </a:defRPr>
            </a:pPr>
            <a:r>
              <a:t>•  Immediate guest access without customer login.</a:t>
            </a:r>
          </a:p>
          <a:p>
            <a:pPr>
              <a:spcAft>
                <a:spcPts val="600"/>
              </a:spcAft>
              <a:defRPr sz="1300">
                <a:solidFill>
                  <a:srgbClr val="1E293B"/>
                </a:solidFill>
                <a:latin typeface="Arial"/>
              </a:defRPr>
            </a:pPr>
            <a:r>
              <a:t>•  Real LLM integration (OpenAI, Gemini, Ollama).</a:t>
            </a:r>
          </a:p>
          <a:p>
            <a:pPr>
              <a:spcAft>
                <a:spcPts val="600"/>
              </a:spcAft>
              <a:defRPr sz="1300">
                <a:solidFill>
                  <a:srgbClr val="1E293B"/>
                </a:solidFill>
                <a:latin typeface="Arial"/>
              </a:defRPr>
            </a:pPr>
            <a:r>
              <a:t>•  Pre-LLM Knowledge Base RAG lookup.</a:t>
            </a:r>
          </a:p>
          <a:p>
            <a:pPr>
              <a:spcAft>
                <a:spcPts val="600"/>
              </a:spcAft>
              <a:defRPr sz="1300">
                <a:solidFill>
                  <a:srgbClr val="1E293B"/>
                </a:solidFill>
                <a:latin typeface="Arial"/>
              </a:defRPr>
            </a:pPr>
            <a:r>
              <a:t>•  Session conversation memory &amp; markdown rendering.</a:t>
            </a:r>
          </a:p>
        </p:txBody>
      </p:sp>
      <p:sp>
        <p:nvSpPr>
          <p:cNvPr id="6" name="Rounded Rectangle 5"/>
          <p:cNvSpPr/>
          <p:nvPr/>
        </p:nvSpPr>
        <p:spPr>
          <a:xfrm>
            <a:off x="4389120" y="1645920"/>
            <a:ext cx="3291840" cy="4572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0" y="1828800"/>
            <a:ext cx="2926080" cy="4206240"/>
          </a:xfrm>
          <a:prstGeom prst="rect">
            <a:avLst/>
          </a:prstGeom>
          <a:noFill/>
        </p:spPr>
        <p:txBody>
          <a:bodyPr wrap="square">
            <a:spAutoFit/>
          </a:bodyPr>
          <a:lstStyle/>
          <a:p>
            <a:pPr>
              <a:spcAft>
                <a:spcPts val="1000"/>
              </a:spcAft>
              <a:defRPr sz="1600" b="1">
                <a:solidFill>
                  <a:srgbClr val="0F172A"/>
                </a:solidFill>
                <a:latin typeface="Arial"/>
              </a:defRPr>
            </a:pPr>
            <a:r>
              <a:t>🎫 Automated Ticket Escalation</a:t>
            </a:r>
          </a:p>
          <a:p>
            <a:pPr>
              <a:spcAft>
                <a:spcPts val="600"/>
              </a:spcAft>
              <a:defRPr sz="1300">
                <a:solidFill>
                  <a:srgbClr val="1E293B"/>
                </a:solidFill>
                <a:latin typeface="Arial"/>
              </a:defRPr>
            </a:pPr>
            <a:r>
              <a:t>•  Confidence &amp; sentiment threshold evaluation.</a:t>
            </a:r>
          </a:p>
          <a:p>
            <a:pPr>
              <a:spcAft>
                <a:spcPts val="600"/>
              </a:spcAft>
              <a:defRPr sz="1300">
                <a:solidFill>
                  <a:srgbClr val="1E293B"/>
                </a:solidFill>
                <a:latin typeface="Arial"/>
              </a:defRPr>
            </a:pPr>
            <a:r>
              <a:t>•  Instant modal prompt when AI confidence is &lt; 0.6.</a:t>
            </a:r>
          </a:p>
          <a:p>
            <a:pPr>
              <a:spcAft>
                <a:spcPts val="600"/>
              </a:spcAft>
              <a:defRPr sz="1300">
                <a:solidFill>
                  <a:srgbClr val="1E293B"/>
                </a:solidFill>
                <a:latin typeface="Arial"/>
              </a:defRPr>
            </a:pPr>
            <a:r>
              <a:t>•  Generates unique Ticket ID (e.g. TICK-8F92A1B3).</a:t>
            </a:r>
          </a:p>
          <a:p>
            <a:pPr>
              <a:spcAft>
                <a:spcPts val="600"/>
              </a:spcAft>
              <a:defRPr sz="1300">
                <a:solidFill>
                  <a:srgbClr val="1E293B"/>
                </a:solidFill>
                <a:latin typeface="Arial"/>
              </a:defRPr>
            </a:pPr>
            <a:r>
              <a:t>•  Stores structured tickets directly in DB.</a:t>
            </a:r>
          </a:p>
        </p:txBody>
      </p:sp>
      <p:sp>
        <p:nvSpPr>
          <p:cNvPr id="8" name="Rounded Rectangle 7"/>
          <p:cNvSpPr/>
          <p:nvPr/>
        </p:nvSpPr>
        <p:spPr>
          <a:xfrm>
            <a:off x="8046720" y="1645920"/>
            <a:ext cx="3383280" cy="4572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229600" y="1828800"/>
            <a:ext cx="3017520" cy="4206240"/>
          </a:xfrm>
          <a:prstGeom prst="rect">
            <a:avLst/>
          </a:prstGeom>
          <a:noFill/>
        </p:spPr>
        <p:txBody>
          <a:bodyPr wrap="square">
            <a:spAutoFit/>
          </a:bodyPr>
          <a:lstStyle/>
          <a:p>
            <a:pPr>
              <a:spcAft>
                <a:spcPts val="1000"/>
              </a:spcAft>
              <a:defRPr sz="1600" b="1">
                <a:solidFill>
                  <a:srgbClr val="0F172A"/>
                </a:solidFill>
                <a:latin typeface="Arial"/>
              </a:defRPr>
            </a:pPr>
            <a:r>
              <a:t>⚙️ Admin Management Console</a:t>
            </a:r>
          </a:p>
          <a:p>
            <a:pPr>
              <a:spcAft>
                <a:spcPts val="600"/>
              </a:spcAft>
              <a:defRPr sz="1300">
                <a:solidFill>
                  <a:srgbClr val="1E293B"/>
                </a:solidFill>
                <a:latin typeface="Arial"/>
              </a:defRPr>
            </a:pPr>
            <a:r>
              <a:t>•  Single-auth Admin login (/admin/login).</a:t>
            </a:r>
          </a:p>
          <a:p>
            <a:pPr>
              <a:spcAft>
                <a:spcPts val="600"/>
              </a:spcAft>
              <a:defRPr sz="1300">
                <a:solidFill>
                  <a:srgbClr val="1E293B"/>
                </a:solidFill>
                <a:latin typeface="Arial"/>
              </a:defRPr>
            </a:pPr>
            <a:r>
              <a:t>•  Master ticket lifecycle management &amp; replies.</a:t>
            </a:r>
          </a:p>
          <a:p>
            <a:pPr>
              <a:spcAft>
                <a:spcPts val="600"/>
              </a:spcAft>
              <a:defRPr sz="1300">
                <a:solidFill>
                  <a:srgbClr val="1E293B"/>
                </a:solidFill>
                <a:latin typeface="Arial"/>
              </a:defRPr>
            </a:pPr>
            <a:r>
              <a:t>•  Knowledge Base FAQ CRUD management.</a:t>
            </a:r>
          </a:p>
          <a:p>
            <a:pPr>
              <a:spcAft>
                <a:spcPts val="600"/>
              </a:spcAft>
              <a:defRPr sz="1300">
                <a:solidFill>
                  <a:srgbClr val="1E293B"/>
                </a:solidFill>
                <a:latin typeface="Arial"/>
              </a:defRPr>
            </a:pPr>
            <a:r>
              <a:t>•  Chart.js analytics &amp; CSV report exporter.</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365760"/>
          </a:xfrm>
          <a:prstGeom prst="rect">
            <a:avLst/>
          </a:prstGeom>
          <a:noFill/>
        </p:spPr>
        <p:txBody>
          <a:bodyPr wrap="square">
            <a:spAutoFit/>
          </a:bodyPr>
          <a:lstStyle/>
          <a:p>
            <a:pPr>
              <a:defRPr sz="1000" b="1">
                <a:solidFill>
                  <a:srgbClr val="0EA5E9"/>
                </a:solidFill>
                <a:latin typeface="Arial"/>
              </a:defRPr>
            </a:pPr>
            <a:r>
              <a:t>AI-POWERED CUSTOMER SUPPORT PLATFORM</a:t>
            </a:r>
          </a:p>
        </p:txBody>
      </p:sp>
      <p:sp>
        <p:nvSpPr>
          <p:cNvPr id="3" name="TextBox 2"/>
          <p:cNvSpPr txBox="1"/>
          <p:nvPr/>
        </p:nvSpPr>
        <p:spPr>
          <a:xfrm>
            <a:off x="731520" y="640080"/>
            <a:ext cx="10698480" cy="731520"/>
          </a:xfrm>
          <a:prstGeom prst="rect">
            <a:avLst/>
          </a:prstGeom>
          <a:noFill/>
        </p:spPr>
        <p:txBody>
          <a:bodyPr wrap="square">
            <a:spAutoFit/>
          </a:bodyPr>
          <a:lstStyle/>
          <a:p>
            <a:pPr>
              <a:defRPr sz="2400" b="1">
                <a:solidFill>
                  <a:srgbClr val="0F172A"/>
                </a:solidFill>
                <a:latin typeface="Arial"/>
              </a:defRPr>
            </a:pPr>
            <a:r>
              <a:t>System Architecture &amp; High-Level Design</a:t>
            </a:r>
          </a:p>
        </p:txBody>
      </p:sp>
      <p:sp>
        <p:nvSpPr>
          <p:cNvPr id="4" name="Rounded Rectangle 3"/>
          <p:cNvSpPr/>
          <p:nvPr/>
        </p:nvSpPr>
        <p:spPr>
          <a:xfrm>
            <a:off x="731520" y="2011680"/>
            <a:ext cx="2011680" cy="3474720"/>
          </a:xfrm>
          <a:prstGeom prst="roundRect">
            <a:avLst/>
          </a:prstGeom>
          <a:solidFill>
            <a:srgbClr val="FFFFFF"/>
          </a:solidFill>
          <a:ln w="2540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22960" y="2194560"/>
            <a:ext cx="1828800" cy="3108960"/>
          </a:xfrm>
          <a:prstGeom prst="rect">
            <a:avLst/>
          </a:prstGeom>
          <a:noFill/>
        </p:spPr>
        <p:txBody>
          <a:bodyPr wrap="square">
            <a:spAutoFit/>
          </a:bodyPr>
          <a:lstStyle/>
          <a:p>
            <a:pPr algn="ctr">
              <a:spcAft>
                <a:spcPts val="1000"/>
              </a:spcAft>
              <a:defRPr sz="1300" b="1">
                <a:solidFill>
                  <a:srgbClr val="0EA5E9"/>
                </a:solidFill>
              </a:defRPr>
            </a:pPr>
            <a:r>
              <a:t>Customer / Guest</a:t>
            </a:r>
            <a:br/>
            <a:r>
              <a:t>Visitor</a:t>
            </a:r>
          </a:p>
          <a:p>
            <a:pPr algn="l">
              <a:defRPr sz="1100">
                <a:solidFill>
                  <a:srgbClr val="1E293B"/>
                </a:solidFill>
              </a:defRPr>
            </a:pPr>
            <a:r>
              <a:t>• Instant Chat</a:t>
            </a:r>
            <a:br/>
            <a:r>
              <a:t>• Ticket Modal</a:t>
            </a:r>
            <a:br/>
            <a:r>
              <a:t>• Markdown UI</a:t>
            </a:r>
          </a:p>
        </p:txBody>
      </p:sp>
      <p:sp>
        <p:nvSpPr>
          <p:cNvPr id="6" name="Rounded Rectangle 5"/>
          <p:cNvSpPr/>
          <p:nvPr/>
        </p:nvSpPr>
        <p:spPr>
          <a:xfrm>
            <a:off x="3017520" y="2011680"/>
            <a:ext cx="2194560" cy="3474720"/>
          </a:xfrm>
          <a:prstGeom prst="roundRect">
            <a:avLst/>
          </a:prstGeom>
          <a:solidFill>
            <a:srgbClr val="FFFFFF"/>
          </a:solidFill>
          <a:ln w="2540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108960" y="2194560"/>
            <a:ext cx="2011680" cy="3108960"/>
          </a:xfrm>
          <a:prstGeom prst="rect">
            <a:avLst/>
          </a:prstGeom>
          <a:noFill/>
        </p:spPr>
        <p:txBody>
          <a:bodyPr wrap="square">
            <a:spAutoFit/>
          </a:bodyPr>
          <a:lstStyle/>
          <a:p>
            <a:pPr algn="ctr">
              <a:spcAft>
                <a:spcPts val="1000"/>
              </a:spcAft>
              <a:defRPr sz="1300" b="1">
                <a:solidFill>
                  <a:srgbClr val="0F172A"/>
                </a:solidFill>
              </a:defRPr>
            </a:pPr>
            <a:r>
              <a:t>Flask Web App</a:t>
            </a:r>
            <a:br/>
            <a:r>
              <a:t>(Backend Engine)</a:t>
            </a:r>
          </a:p>
          <a:p>
            <a:pPr algn="l">
              <a:defRPr sz="1100">
                <a:solidFill>
                  <a:srgbClr val="1E293B"/>
                </a:solidFill>
              </a:defRPr>
            </a:pPr>
            <a:r>
              <a:t>• App Factory</a:t>
            </a:r>
            <a:br/>
            <a:r>
              <a:t>• Routing Controllers</a:t>
            </a:r>
            <a:br/>
            <a:r>
              <a:t>• Jinja2 Templates</a:t>
            </a:r>
          </a:p>
        </p:txBody>
      </p:sp>
      <p:sp>
        <p:nvSpPr>
          <p:cNvPr id="8" name="Rounded Rectangle 7"/>
          <p:cNvSpPr/>
          <p:nvPr/>
        </p:nvSpPr>
        <p:spPr>
          <a:xfrm>
            <a:off x="5486400" y="2011680"/>
            <a:ext cx="2194560" cy="3474720"/>
          </a:xfrm>
          <a:prstGeom prst="roundRect">
            <a:avLst/>
          </a:prstGeom>
          <a:solidFill>
            <a:srgbClr val="FFFFFF"/>
          </a:solidFill>
          <a:ln w="25400">
            <a:solidFill>
              <a:srgbClr val="0F204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577840" y="2194560"/>
            <a:ext cx="2011680" cy="3108960"/>
          </a:xfrm>
          <a:prstGeom prst="rect">
            <a:avLst/>
          </a:prstGeom>
          <a:noFill/>
        </p:spPr>
        <p:txBody>
          <a:bodyPr wrap="square">
            <a:spAutoFit/>
          </a:bodyPr>
          <a:lstStyle/>
          <a:p>
            <a:pPr algn="ctr">
              <a:spcAft>
                <a:spcPts val="1000"/>
              </a:spcAft>
              <a:defRPr sz="1300" b="1">
                <a:solidFill>
                  <a:srgbClr val="0F2043"/>
                </a:solidFill>
              </a:defRPr>
            </a:pPr>
            <a:r>
              <a:t>AI Engine &amp; RAG</a:t>
            </a:r>
            <a:br/>
            <a:r>
              <a:t>Module</a:t>
            </a:r>
          </a:p>
          <a:p>
            <a:pPr algn="l">
              <a:defRPr sz="1100">
                <a:solidFill>
                  <a:srgbClr val="1E293B"/>
                </a:solidFill>
              </a:defRPr>
            </a:pPr>
            <a:r>
              <a:t>• KB Search RAG</a:t>
            </a:r>
            <a:br/>
            <a:r>
              <a:t>• LLM Client</a:t>
            </a:r>
            <a:br/>
            <a:r>
              <a:t>• Intent Classification</a:t>
            </a:r>
          </a:p>
        </p:txBody>
      </p:sp>
      <p:sp>
        <p:nvSpPr>
          <p:cNvPr id="10" name="Rounded Rectangle 9"/>
          <p:cNvSpPr/>
          <p:nvPr/>
        </p:nvSpPr>
        <p:spPr>
          <a:xfrm>
            <a:off x="7955279" y="2011680"/>
            <a:ext cx="1828800" cy="3474720"/>
          </a:xfrm>
          <a:prstGeom prst="roundRect">
            <a:avLst/>
          </a:prstGeom>
          <a:solidFill>
            <a:srgbClr val="FFFFFF"/>
          </a:solidFill>
          <a:ln w="2540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046719" y="2194560"/>
            <a:ext cx="1645920" cy="3108960"/>
          </a:xfrm>
          <a:prstGeom prst="rect">
            <a:avLst/>
          </a:prstGeom>
          <a:noFill/>
        </p:spPr>
        <p:txBody>
          <a:bodyPr wrap="square">
            <a:spAutoFit/>
          </a:bodyPr>
          <a:lstStyle/>
          <a:p>
            <a:pPr algn="ctr">
              <a:spcAft>
                <a:spcPts val="1000"/>
              </a:spcAft>
              <a:defRPr sz="1300" b="1">
                <a:solidFill>
                  <a:srgbClr val="0F172A"/>
                </a:solidFill>
              </a:defRPr>
            </a:pPr>
            <a:r>
              <a:t>Database Layer</a:t>
            </a:r>
            <a:br/>
            <a:r>
              <a:t>(SQLAlchemy)</a:t>
            </a:r>
          </a:p>
          <a:p>
            <a:pPr algn="l">
              <a:defRPr sz="1100">
                <a:solidFill>
                  <a:srgbClr val="1E293B"/>
                </a:solidFill>
              </a:defRPr>
            </a:pPr>
            <a:r>
              <a:t>• SQLite (Dev)</a:t>
            </a:r>
            <a:br/>
            <a:r>
              <a:t>• PostgreSQL (Prod)</a:t>
            </a:r>
            <a:br/>
            <a:r>
              <a:t>• Auto Schema Creation</a:t>
            </a:r>
          </a:p>
        </p:txBody>
      </p:sp>
      <p:sp>
        <p:nvSpPr>
          <p:cNvPr id="12" name="Rounded Rectangle 11"/>
          <p:cNvSpPr/>
          <p:nvPr/>
        </p:nvSpPr>
        <p:spPr>
          <a:xfrm>
            <a:off x="10058400" y="2011680"/>
            <a:ext cx="1371600" cy="3474720"/>
          </a:xfrm>
          <a:prstGeom prst="roundRect">
            <a:avLst/>
          </a:prstGeom>
          <a:solidFill>
            <a:srgbClr val="FFFFFF"/>
          </a:solidFill>
          <a:ln w="2540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0149840" y="2194560"/>
            <a:ext cx="1188720" cy="3108960"/>
          </a:xfrm>
          <a:prstGeom prst="rect">
            <a:avLst/>
          </a:prstGeom>
          <a:noFill/>
        </p:spPr>
        <p:txBody>
          <a:bodyPr wrap="square">
            <a:spAutoFit/>
          </a:bodyPr>
          <a:lstStyle/>
          <a:p>
            <a:pPr algn="ctr">
              <a:spcAft>
                <a:spcPts val="1000"/>
              </a:spcAft>
              <a:defRPr sz="1300" b="1">
                <a:solidFill>
                  <a:srgbClr val="0EA5E9"/>
                </a:solidFill>
              </a:defRPr>
            </a:pPr>
            <a:r>
              <a:t>Admin</a:t>
            </a:r>
            <a:br/>
            <a:r>
              <a:t>Console</a:t>
            </a:r>
          </a:p>
          <a:p>
            <a:pPr algn="l">
              <a:defRPr sz="1100">
                <a:solidFill>
                  <a:srgbClr val="1E293B"/>
                </a:solidFill>
              </a:defRPr>
            </a:pPr>
            <a:r>
              <a:t>• Flask-Login</a:t>
            </a:r>
            <a:br/>
            <a:r>
              <a:t>• Analytics</a:t>
            </a:r>
            <a:br/>
            <a:r>
              <a:t>• CSV Export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365760"/>
          </a:xfrm>
          <a:prstGeom prst="rect">
            <a:avLst/>
          </a:prstGeom>
          <a:noFill/>
        </p:spPr>
        <p:txBody>
          <a:bodyPr wrap="square">
            <a:spAutoFit/>
          </a:bodyPr>
          <a:lstStyle/>
          <a:p>
            <a:pPr>
              <a:defRPr sz="1000" b="1">
                <a:solidFill>
                  <a:srgbClr val="0EA5E9"/>
                </a:solidFill>
                <a:latin typeface="Arial"/>
              </a:defRPr>
            </a:pPr>
            <a:r>
              <a:t>AI-POWERED CUSTOMER SUPPORT PLATFORM</a:t>
            </a:r>
          </a:p>
        </p:txBody>
      </p:sp>
      <p:sp>
        <p:nvSpPr>
          <p:cNvPr id="3" name="TextBox 2"/>
          <p:cNvSpPr txBox="1"/>
          <p:nvPr/>
        </p:nvSpPr>
        <p:spPr>
          <a:xfrm>
            <a:off x="731520" y="640080"/>
            <a:ext cx="10698480" cy="731520"/>
          </a:xfrm>
          <a:prstGeom prst="rect">
            <a:avLst/>
          </a:prstGeom>
          <a:noFill/>
        </p:spPr>
        <p:txBody>
          <a:bodyPr wrap="square">
            <a:spAutoFit/>
          </a:bodyPr>
          <a:lstStyle/>
          <a:p>
            <a:pPr>
              <a:defRPr sz="2400" b="1">
                <a:solidFill>
                  <a:srgbClr val="0F172A"/>
                </a:solidFill>
                <a:latin typeface="Arial"/>
              </a:defRPr>
            </a:pPr>
            <a:r>
              <a:t>Technology Stack &amp; Frameworks</a:t>
            </a:r>
          </a:p>
        </p:txBody>
      </p:sp>
      <p:sp>
        <p:nvSpPr>
          <p:cNvPr id="4" name="Rounded Rectangle 3"/>
          <p:cNvSpPr/>
          <p:nvPr/>
        </p:nvSpPr>
        <p:spPr>
          <a:xfrm>
            <a:off x="731520" y="1645920"/>
            <a:ext cx="5120640" cy="21945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0" y="1828800"/>
            <a:ext cx="4754880" cy="1828800"/>
          </a:xfrm>
          <a:prstGeom prst="rect">
            <a:avLst/>
          </a:prstGeom>
          <a:noFill/>
        </p:spPr>
        <p:txBody>
          <a:bodyPr wrap="square">
            <a:spAutoFit/>
          </a:bodyPr>
          <a:lstStyle/>
          <a:p>
            <a:pPr>
              <a:spcAft>
                <a:spcPts val="1000"/>
              </a:spcAft>
              <a:defRPr sz="1600" b="1">
                <a:solidFill>
                  <a:srgbClr val="0F172A"/>
                </a:solidFill>
                <a:latin typeface="Arial"/>
              </a:defRPr>
            </a:pPr>
            <a:r>
              <a:t>🐍 Backend Framework</a:t>
            </a:r>
          </a:p>
          <a:p>
            <a:pPr>
              <a:spcAft>
                <a:spcPts val="600"/>
              </a:spcAft>
              <a:defRPr sz="1300">
                <a:solidFill>
                  <a:srgbClr val="1E293B"/>
                </a:solidFill>
                <a:latin typeface="Arial"/>
              </a:defRPr>
            </a:pPr>
            <a:r>
              <a:t>•  Python 3.12</a:t>
            </a:r>
          </a:p>
          <a:p>
            <a:pPr>
              <a:spcAft>
                <a:spcPts val="600"/>
              </a:spcAft>
              <a:defRPr sz="1300">
                <a:solidFill>
                  <a:srgbClr val="1E293B"/>
                </a:solidFill>
                <a:latin typeface="Arial"/>
              </a:defRPr>
            </a:pPr>
            <a:r>
              <a:t>•  Flask App Factory</a:t>
            </a:r>
          </a:p>
          <a:p>
            <a:pPr>
              <a:spcAft>
                <a:spcPts val="600"/>
              </a:spcAft>
              <a:defRPr sz="1300">
                <a:solidFill>
                  <a:srgbClr val="1E293B"/>
                </a:solidFill>
                <a:latin typeface="Arial"/>
              </a:defRPr>
            </a:pPr>
            <a:r>
              <a:t>•  Flask-SQLAlchemy</a:t>
            </a:r>
          </a:p>
          <a:p>
            <a:pPr>
              <a:spcAft>
                <a:spcPts val="600"/>
              </a:spcAft>
              <a:defRPr sz="1300">
                <a:solidFill>
                  <a:srgbClr val="1E293B"/>
                </a:solidFill>
                <a:latin typeface="Arial"/>
              </a:defRPr>
            </a:pPr>
            <a:r>
              <a:t>•  Flask-Login</a:t>
            </a:r>
          </a:p>
          <a:p>
            <a:pPr>
              <a:spcAft>
                <a:spcPts val="600"/>
              </a:spcAft>
              <a:defRPr sz="1300">
                <a:solidFill>
                  <a:srgbClr val="1E293B"/>
                </a:solidFill>
                <a:latin typeface="Arial"/>
              </a:defRPr>
            </a:pPr>
            <a:r>
              <a:t>•  Gunicorn WSGI</a:t>
            </a:r>
          </a:p>
        </p:txBody>
      </p:sp>
      <p:sp>
        <p:nvSpPr>
          <p:cNvPr id="6" name="Rounded Rectangle 5"/>
          <p:cNvSpPr/>
          <p:nvPr/>
        </p:nvSpPr>
        <p:spPr>
          <a:xfrm>
            <a:off x="6126480" y="1645920"/>
            <a:ext cx="5120640" cy="21945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309360" y="1828800"/>
            <a:ext cx="4754880" cy="1828800"/>
          </a:xfrm>
          <a:prstGeom prst="rect">
            <a:avLst/>
          </a:prstGeom>
          <a:noFill/>
        </p:spPr>
        <p:txBody>
          <a:bodyPr wrap="square">
            <a:spAutoFit/>
          </a:bodyPr>
          <a:lstStyle/>
          <a:p>
            <a:pPr>
              <a:spcAft>
                <a:spcPts val="1000"/>
              </a:spcAft>
              <a:defRPr sz="1600" b="1">
                <a:solidFill>
                  <a:srgbClr val="0F172A"/>
                </a:solidFill>
                <a:latin typeface="Arial"/>
              </a:defRPr>
            </a:pPr>
            <a:r>
              <a:t>🎨 Frontend &amp; UI</a:t>
            </a:r>
          </a:p>
          <a:p>
            <a:pPr>
              <a:spcAft>
                <a:spcPts val="600"/>
              </a:spcAft>
              <a:defRPr sz="1300">
                <a:solidFill>
                  <a:srgbClr val="1E293B"/>
                </a:solidFill>
                <a:latin typeface="Arial"/>
              </a:defRPr>
            </a:pPr>
            <a:r>
              <a:t>•  HTML5 &amp; CSS3</a:t>
            </a:r>
          </a:p>
          <a:p>
            <a:pPr>
              <a:spcAft>
                <a:spcPts val="600"/>
              </a:spcAft>
              <a:defRPr sz="1300">
                <a:solidFill>
                  <a:srgbClr val="1E293B"/>
                </a:solidFill>
                <a:latin typeface="Arial"/>
              </a:defRPr>
            </a:pPr>
            <a:r>
              <a:t>•  Bootstrap 5</a:t>
            </a:r>
          </a:p>
          <a:p>
            <a:pPr>
              <a:spcAft>
                <a:spcPts val="600"/>
              </a:spcAft>
              <a:defRPr sz="1300">
                <a:solidFill>
                  <a:srgbClr val="1E293B"/>
                </a:solidFill>
                <a:latin typeface="Arial"/>
              </a:defRPr>
            </a:pPr>
            <a:r>
              <a:t>•  Vanilla JavaScript</a:t>
            </a:r>
          </a:p>
          <a:p>
            <a:pPr>
              <a:spcAft>
                <a:spcPts val="600"/>
              </a:spcAft>
              <a:defRPr sz="1300">
                <a:solidFill>
                  <a:srgbClr val="1E293B"/>
                </a:solidFill>
                <a:latin typeface="Arial"/>
              </a:defRPr>
            </a:pPr>
            <a:r>
              <a:t>•  Marked.js Markdown</a:t>
            </a:r>
          </a:p>
          <a:p>
            <a:pPr>
              <a:spcAft>
                <a:spcPts val="600"/>
              </a:spcAft>
              <a:defRPr sz="1300">
                <a:solidFill>
                  <a:srgbClr val="1E293B"/>
                </a:solidFill>
                <a:latin typeface="Arial"/>
              </a:defRPr>
            </a:pPr>
            <a:r>
              <a:t>•  Glassmorphism UI</a:t>
            </a:r>
          </a:p>
        </p:txBody>
      </p:sp>
      <p:sp>
        <p:nvSpPr>
          <p:cNvPr id="8" name="Rounded Rectangle 7"/>
          <p:cNvSpPr/>
          <p:nvPr/>
        </p:nvSpPr>
        <p:spPr>
          <a:xfrm>
            <a:off x="731520" y="4023360"/>
            <a:ext cx="5120640" cy="21945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14400" y="4206240"/>
            <a:ext cx="4754880" cy="1828800"/>
          </a:xfrm>
          <a:prstGeom prst="rect">
            <a:avLst/>
          </a:prstGeom>
          <a:noFill/>
        </p:spPr>
        <p:txBody>
          <a:bodyPr wrap="square">
            <a:spAutoFit/>
          </a:bodyPr>
          <a:lstStyle/>
          <a:p>
            <a:pPr>
              <a:spcAft>
                <a:spcPts val="1000"/>
              </a:spcAft>
              <a:defRPr sz="1600" b="1">
                <a:solidFill>
                  <a:srgbClr val="0F172A"/>
                </a:solidFill>
                <a:latin typeface="Arial"/>
              </a:defRPr>
            </a:pPr>
            <a:r>
              <a:t>💾 Database &amp; Storage</a:t>
            </a:r>
          </a:p>
          <a:p>
            <a:pPr>
              <a:spcAft>
                <a:spcPts val="600"/>
              </a:spcAft>
              <a:defRPr sz="1300">
                <a:solidFill>
                  <a:srgbClr val="1E293B"/>
                </a:solidFill>
                <a:latin typeface="Arial"/>
              </a:defRPr>
            </a:pPr>
            <a:r>
              <a:t>•  SQLite (Development)</a:t>
            </a:r>
          </a:p>
          <a:p>
            <a:pPr>
              <a:spcAft>
                <a:spcPts val="600"/>
              </a:spcAft>
              <a:defRPr sz="1300">
                <a:solidFill>
                  <a:srgbClr val="1E293B"/>
                </a:solidFill>
                <a:latin typeface="Arial"/>
              </a:defRPr>
            </a:pPr>
            <a:r>
              <a:t>•  PostgreSQL (Production)</a:t>
            </a:r>
          </a:p>
          <a:p>
            <a:pPr>
              <a:spcAft>
                <a:spcPts val="600"/>
              </a:spcAft>
              <a:defRPr sz="1300">
                <a:solidFill>
                  <a:srgbClr val="1E293B"/>
                </a:solidFill>
                <a:latin typeface="Arial"/>
              </a:defRPr>
            </a:pPr>
            <a:r>
              <a:t>•  db.create_all() Auto Schema</a:t>
            </a:r>
          </a:p>
          <a:p>
            <a:pPr>
              <a:spcAft>
                <a:spcPts val="600"/>
              </a:spcAft>
              <a:defRPr sz="1300">
                <a:solidFill>
                  <a:srgbClr val="1E293B"/>
                </a:solidFill>
                <a:latin typeface="Arial"/>
              </a:defRPr>
            </a:pPr>
            <a:r>
              <a:t>•  Zero-Migration Setup</a:t>
            </a:r>
          </a:p>
        </p:txBody>
      </p:sp>
      <p:sp>
        <p:nvSpPr>
          <p:cNvPr id="10" name="Rounded Rectangle 9"/>
          <p:cNvSpPr/>
          <p:nvPr/>
        </p:nvSpPr>
        <p:spPr>
          <a:xfrm>
            <a:off x="6126480" y="4023360"/>
            <a:ext cx="5120640" cy="21945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309360" y="4206240"/>
            <a:ext cx="4754880" cy="1828800"/>
          </a:xfrm>
          <a:prstGeom prst="rect">
            <a:avLst/>
          </a:prstGeom>
          <a:noFill/>
        </p:spPr>
        <p:txBody>
          <a:bodyPr wrap="square">
            <a:spAutoFit/>
          </a:bodyPr>
          <a:lstStyle/>
          <a:p>
            <a:pPr>
              <a:spcAft>
                <a:spcPts val="1000"/>
              </a:spcAft>
              <a:defRPr sz="1600" b="1">
                <a:solidFill>
                  <a:srgbClr val="0F172A"/>
                </a:solidFill>
                <a:latin typeface="Arial"/>
              </a:defRPr>
            </a:pPr>
            <a:r>
              <a:t>☁️ AI &amp; Infrastructure</a:t>
            </a:r>
          </a:p>
          <a:p>
            <a:pPr>
              <a:spcAft>
                <a:spcPts val="600"/>
              </a:spcAft>
              <a:defRPr sz="1300">
                <a:solidFill>
                  <a:srgbClr val="1E293B"/>
                </a:solidFill>
                <a:latin typeface="Arial"/>
              </a:defRPr>
            </a:pPr>
            <a:r>
              <a:t>•  OpenAI GPT API</a:t>
            </a:r>
          </a:p>
          <a:p>
            <a:pPr>
              <a:spcAft>
                <a:spcPts val="600"/>
              </a:spcAft>
              <a:defRPr sz="1300">
                <a:solidFill>
                  <a:srgbClr val="1E293B"/>
                </a:solidFill>
                <a:latin typeface="Arial"/>
              </a:defRPr>
            </a:pPr>
            <a:r>
              <a:t>•  Google Gemini API</a:t>
            </a:r>
          </a:p>
          <a:p>
            <a:pPr>
              <a:spcAft>
                <a:spcPts val="600"/>
              </a:spcAft>
              <a:defRPr sz="1300">
                <a:solidFill>
                  <a:srgbClr val="1E293B"/>
                </a:solidFill>
                <a:latin typeface="Arial"/>
              </a:defRPr>
            </a:pPr>
            <a:r>
              <a:t>•  Ollama Local Model</a:t>
            </a:r>
          </a:p>
          <a:p>
            <a:pPr>
              <a:spcAft>
                <a:spcPts val="600"/>
              </a:spcAft>
              <a:defRPr sz="1300">
                <a:solidFill>
                  <a:srgbClr val="1E293B"/>
                </a:solidFill>
                <a:latin typeface="Arial"/>
              </a:defRPr>
            </a:pPr>
            <a:r>
              <a:t>•  Render Cloud Deployment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365760"/>
          </a:xfrm>
          <a:prstGeom prst="rect">
            <a:avLst/>
          </a:prstGeom>
          <a:noFill/>
        </p:spPr>
        <p:txBody>
          <a:bodyPr wrap="square">
            <a:spAutoFit/>
          </a:bodyPr>
          <a:lstStyle/>
          <a:p>
            <a:pPr>
              <a:defRPr sz="1000" b="1">
                <a:solidFill>
                  <a:srgbClr val="0EA5E9"/>
                </a:solidFill>
                <a:latin typeface="Arial"/>
              </a:defRPr>
            </a:pPr>
            <a:r>
              <a:t>AI-POWERED CUSTOMER SUPPORT PLATFORM</a:t>
            </a:r>
          </a:p>
        </p:txBody>
      </p:sp>
      <p:sp>
        <p:nvSpPr>
          <p:cNvPr id="3" name="TextBox 2"/>
          <p:cNvSpPr txBox="1"/>
          <p:nvPr/>
        </p:nvSpPr>
        <p:spPr>
          <a:xfrm>
            <a:off x="731520" y="640080"/>
            <a:ext cx="10698480" cy="731520"/>
          </a:xfrm>
          <a:prstGeom prst="rect">
            <a:avLst/>
          </a:prstGeom>
          <a:noFill/>
        </p:spPr>
        <p:txBody>
          <a:bodyPr wrap="square">
            <a:spAutoFit/>
          </a:bodyPr>
          <a:lstStyle/>
          <a:p>
            <a:pPr>
              <a:defRPr sz="2400" b="1">
                <a:solidFill>
                  <a:srgbClr val="0F172A"/>
                </a:solidFill>
                <a:latin typeface="Arial"/>
              </a:defRPr>
            </a:pPr>
            <a:r>
              <a:t>Database Schema &amp; Entity Model</a:t>
            </a:r>
          </a:p>
        </p:txBody>
      </p:sp>
      <p:sp>
        <p:nvSpPr>
          <p:cNvPr id="4" name="Rounded Rectangle 3"/>
          <p:cNvSpPr/>
          <p:nvPr/>
        </p:nvSpPr>
        <p:spPr>
          <a:xfrm>
            <a:off x="731520" y="1645920"/>
            <a:ext cx="3383280" cy="21945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0" y="1828800"/>
            <a:ext cx="3017520" cy="1828800"/>
          </a:xfrm>
          <a:prstGeom prst="rect">
            <a:avLst/>
          </a:prstGeom>
          <a:noFill/>
        </p:spPr>
        <p:txBody>
          <a:bodyPr wrap="square">
            <a:spAutoFit/>
          </a:bodyPr>
          <a:lstStyle/>
          <a:p>
            <a:pPr>
              <a:spcAft>
                <a:spcPts val="1000"/>
              </a:spcAft>
              <a:defRPr sz="1600" b="1">
                <a:solidFill>
                  <a:srgbClr val="0F172A"/>
                </a:solidFill>
                <a:latin typeface="Arial"/>
              </a:defRPr>
            </a:pPr>
            <a:r>
              <a:t>🗄️ Table: Admin</a:t>
            </a:r>
          </a:p>
          <a:p>
            <a:pPr>
              <a:spcAft>
                <a:spcPts val="600"/>
              </a:spcAft>
              <a:defRPr sz="1300">
                <a:solidFill>
                  <a:srgbClr val="1E293B"/>
                </a:solidFill>
                <a:latin typeface="Arial"/>
              </a:defRPr>
            </a:pPr>
            <a:r>
              <a:t>•  id (PK)</a:t>
            </a:r>
          </a:p>
          <a:p>
            <a:pPr>
              <a:spcAft>
                <a:spcPts val="600"/>
              </a:spcAft>
              <a:defRPr sz="1300">
                <a:solidFill>
                  <a:srgbClr val="1E293B"/>
                </a:solidFill>
                <a:latin typeface="Arial"/>
              </a:defRPr>
            </a:pPr>
            <a:r>
              <a:t>•  email</a:t>
            </a:r>
          </a:p>
          <a:p>
            <a:pPr>
              <a:spcAft>
                <a:spcPts val="600"/>
              </a:spcAft>
              <a:defRPr sz="1300">
                <a:solidFill>
                  <a:srgbClr val="1E293B"/>
                </a:solidFill>
                <a:latin typeface="Arial"/>
              </a:defRPr>
            </a:pPr>
            <a:r>
              <a:t>•  username</a:t>
            </a:r>
          </a:p>
          <a:p>
            <a:pPr>
              <a:spcAft>
                <a:spcPts val="600"/>
              </a:spcAft>
              <a:defRPr sz="1300">
                <a:solidFill>
                  <a:srgbClr val="1E293B"/>
                </a:solidFill>
                <a:latin typeface="Arial"/>
              </a:defRPr>
            </a:pPr>
            <a:r>
              <a:t>•  password_hash</a:t>
            </a:r>
          </a:p>
          <a:p>
            <a:pPr>
              <a:spcAft>
                <a:spcPts val="600"/>
              </a:spcAft>
              <a:defRPr sz="1300">
                <a:solidFill>
                  <a:srgbClr val="1E293B"/>
                </a:solidFill>
                <a:latin typeface="Arial"/>
              </a:defRPr>
            </a:pPr>
            <a:r>
              <a:t>•  role</a:t>
            </a:r>
          </a:p>
          <a:p>
            <a:pPr>
              <a:spcAft>
                <a:spcPts val="600"/>
              </a:spcAft>
              <a:defRPr sz="1300">
                <a:solidFill>
                  <a:srgbClr val="1E293B"/>
                </a:solidFill>
                <a:latin typeface="Arial"/>
              </a:defRPr>
            </a:pPr>
            <a:r>
              <a:t>•  created_at</a:t>
            </a:r>
          </a:p>
        </p:txBody>
      </p:sp>
      <p:sp>
        <p:nvSpPr>
          <p:cNvPr id="6" name="Rounded Rectangle 5"/>
          <p:cNvSpPr/>
          <p:nvPr/>
        </p:nvSpPr>
        <p:spPr>
          <a:xfrm>
            <a:off x="4297680" y="1645920"/>
            <a:ext cx="3383280" cy="21945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480560" y="1828800"/>
            <a:ext cx="3017520" cy="1828800"/>
          </a:xfrm>
          <a:prstGeom prst="rect">
            <a:avLst/>
          </a:prstGeom>
          <a:noFill/>
        </p:spPr>
        <p:txBody>
          <a:bodyPr wrap="square">
            <a:spAutoFit/>
          </a:bodyPr>
          <a:lstStyle/>
          <a:p>
            <a:pPr>
              <a:spcAft>
                <a:spcPts val="1000"/>
              </a:spcAft>
              <a:defRPr sz="1600" b="1">
                <a:solidFill>
                  <a:srgbClr val="0F172A"/>
                </a:solidFill>
                <a:latin typeface="Arial"/>
              </a:defRPr>
            </a:pPr>
            <a:r>
              <a:t>🗄️ Table: ChatSession</a:t>
            </a:r>
          </a:p>
          <a:p>
            <a:pPr>
              <a:spcAft>
                <a:spcPts val="600"/>
              </a:spcAft>
              <a:defRPr sz="1300">
                <a:solidFill>
                  <a:srgbClr val="1E293B"/>
                </a:solidFill>
                <a:latin typeface="Arial"/>
              </a:defRPr>
            </a:pPr>
            <a:r>
              <a:t>•  id (PK)</a:t>
            </a:r>
          </a:p>
          <a:p>
            <a:pPr>
              <a:spcAft>
                <a:spcPts val="600"/>
              </a:spcAft>
              <a:defRPr sz="1300">
                <a:solidFill>
                  <a:srgbClr val="1E293B"/>
                </a:solidFill>
                <a:latin typeface="Arial"/>
              </a:defRPr>
            </a:pPr>
            <a:r>
              <a:t>•  session_id (Index)</a:t>
            </a:r>
          </a:p>
          <a:p>
            <a:pPr>
              <a:spcAft>
                <a:spcPts val="600"/>
              </a:spcAft>
              <a:defRPr sz="1300">
                <a:solidFill>
                  <a:srgbClr val="1E293B"/>
                </a:solidFill>
                <a:latin typeface="Arial"/>
              </a:defRPr>
            </a:pPr>
            <a:r>
              <a:t>•  title</a:t>
            </a:r>
          </a:p>
          <a:p>
            <a:pPr>
              <a:spcAft>
                <a:spcPts val="600"/>
              </a:spcAft>
              <a:defRPr sz="1300">
                <a:solidFill>
                  <a:srgbClr val="1E293B"/>
                </a:solidFill>
                <a:latin typeface="Arial"/>
              </a:defRPr>
            </a:pPr>
            <a:r>
              <a:t>•  status</a:t>
            </a:r>
          </a:p>
          <a:p>
            <a:pPr>
              <a:spcAft>
                <a:spcPts val="600"/>
              </a:spcAft>
              <a:defRPr sz="1300">
                <a:solidFill>
                  <a:srgbClr val="1E293B"/>
                </a:solidFill>
                <a:latin typeface="Arial"/>
              </a:defRPr>
            </a:pPr>
            <a:r>
              <a:t>•  created_at</a:t>
            </a:r>
          </a:p>
          <a:p>
            <a:pPr>
              <a:spcAft>
                <a:spcPts val="600"/>
              </a:spcAft>
              <a:defRPr sz="1300">
                <a:solidFill>
                  <a:srgbClr val="1E293B"/>
                </a:solidFill>
                <a:latin typeface="Arial"/>
              </a:defRPr>
            </a:pPr>
            <a:r>
              <a:t>•  updated_at</a:t>
            </a:r>
          </a:p>
        </p:txBody>
      </p:sp>
      <p:sp>
        <p:nvSpPr>
          <p:cNvPr id="8" name="Rounded Rectangle 7"/>
          <p:cNvSpPr/>
          <p:nvPr/>
        </p:nvSpPr>
        <p:spPr>
          <a:xfrm>
            <a:off x="7863840" y="1645920"/>
            <a:ext cx="3383280" cy="21945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046720" y="1828800"/>
            <a:ext cx="3017520" cy="1828800"/>
          </a:xfrm>
          <a:prstGeom prst="rect">
            <a:avLst/>
          </a:prstGeom>
          <a:noFill/>
        </p:spPr>
        <p:txBody>
          <a:bodyPr wrap="square">
            <a:spAutoFit/>
          </a:bodyPr>
          <a:lstStyle/>
          <a:p>
            <a:pPr>
              <a:spcAft>
                <a:spcPts val="1000"/>
              </a:spcAft>
              <a:defRPr sz="1600" b="1">
                <a:solidFill>
                  <a:srgbClr val="0F172A"/>
                </a:solidFill>
                <a:latin typeface="Arial"/>
              </a:defRPr>
            </a:pPr>
            <a:r>
              <a:t>🗄️ Table: Message</a:t>
            </a:r>
          </a:p>
          <a:p>
            <a:pPr>
              <a:spcAft>
                <a:spcPts val="600"/>
              </a:spcAft>
              <a:defRPr sz="1300">
                <a:solidFill>
                  <a:srgbClr val="1E293B"/>
                </a:solidFill>
                <a:latin typeface="Arial"/>
              </a:defRPr>
            </a:pPr>
            <a:r>
              <a:t>•  id (PK)</a:t>
            </a:r>
          </a:p>
          <a:p>
            <a:pPr>
              <a:spcAft>
                <a:spcPts val="600"/>
              </a:spcAft>
              <a:defRPr sz="1300">
                <a:solidFill>
                  <a:srgbClr val="1E293B"/>
                </a:solidFill>
                <a:latin typeface="Arial"/>
              </a:defRPr>
            </a:pPr>
            <a:r>
              <a:t>•  session_id (FK)</a:t>
            </a:r>
          </a:p>
          <a:p>
            <a:pPr>
              <a:spcAft>
                <a:spcPts val="600"/>
              </a:spcAft>
              <a:defRPr sz="1300">
                <a:solidFill>
                  <a:srgbClr val="1E293B"/>
                </a:solidFill>
                <a:latin typeface="Arial"/>
              </a:defRPr>
            </a:pPr>
            <a:r>
              <a:t>•  sender (USER/AI)</a:t>
            </a:r>
          </a:p>
          <a:p>
            <a:pPr>
              <a:spcAft>
                <a:spcPts val="600"/>
              </a:spcAft>
              <a:defRPr sz="1300">
                <a:solidFill>
                  <a:srgbClr val="1E293B"/>
                </a:solidFill>
                <a:latin typeface="Arial"/>
              </a:defRPr>
            </a:pPr>
            <a:r>
              <a:t>•  content</a:t>
            </a:r>
          </a:p>
          <a:p>
            <a:pPr>
              <a:spcAft>
                <a:spcPts val="600"/>
              </a:spcAft>
              <a:defRPr sz="1300">
                <a:solidFill>
                  <a:srgbClr val="1E293B"/>
                </a:solidFill>
                <a:latin typeface="Arial"/>
              </a:defRPr>
            </a:pPr>
            <a:r>
              <a:t>•  intent</a:t>
            </a:r>
          </a:p>
          <a:p>
            <a:pPr>
              <a:spcAft>
                <a:spcPts val="600"/>
              </a:spcAft>
              <a:defRPr sz="1300">
                <a:solidFill>
                  <a:srgbClr val="1E293B"/>
                </a:solidFill>
                <a:latin typeface="Arial"/>
              </a:defRPr>
            </a:pPr>
            <a:r>
              <a:t>•  sentiment</a:t>
            </a:r>
          </a:p>
        </p:txBody>
      </p:sp>
      <p:sp>
        <p:nvSpPr>
          <p:cNvPr id="10" name="Rounded Rectangle 9"/>
          <p:cNvSpPr/>
          <p:nvPr/>
        </p:nvSpPr>
        <p:spPr>
          <a:xfrm>
            <a:off x="731520" y="4023360"/>
            <a:ext cx="3383280" cy="21945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14400" y="4206240"/>
            <a:ext cx="3017520" cy="1828800"/>
          </a:xfrm>
          <a:prstGeom prst="rect">
            <a:avLst/>
          </a:prstGeom>
          <a:noFill/>
        </p:spPr>
        <p:txBody>
          <a:bodyPr wrap="square">
            <a:spAutoFit/>
          </a:bodyPr>
          <a:lstStyle/>
          <a:p>
            <a:pPr>
              <a:spcAft>
                <a:spcPts val="1000"/>
              </a:spcAft>
              <a:defRPr sz="1600" b="1">
                <a:solidFill>
                  <a:srgbClr val="0F172A"/>
                </a:solidFill>
                <a:latin typeface="Arial"/>
              </a:defRPr>
            </a:pPr>
            <a:r>
              <a:t>🗄️ Table: Ticket</a:t>
            </a:r>
          </a:p>
          <a:p>
            <a:pPr>
              <a:spcAft>
                <a:spcPts val="600"/>
              </a:spcAft>
              <a:defRPr sz="1300">
                <a:solidFill>
                  <a:srgbClr val="1E293B"/>
                </a:solidFill>
                <a:latin typeface="Arial"/>
              </a:defRPr>
            </a:pPr>
            <a:r>
              <a:t>•  id (PK)</a:t>
            </a:r>
          </a:p>
          <a:p>
            <a:pPr>
              <a:spcAft>
                <a:spcPts val="600"/>
              </a:spcAft>
              <a:defRPr sz="1300">
                <a:solidFill>
                  <a:srgbClr val="1E293B"/>
                </a:solidFill>
                <a:latin typeface="Arial"/>
              </a:defRPr>
            </a:pPr>
            <a:r>
              <a:t>•  ticket_code (Unique)</a:t>
            </a:r>
          </a:p>
          <a:p>
            <a:pPr>
              <a:spcAft>
                <a:spcPts val="600"/>
              </a:spcAft>
              <a:defRPr sz="1300">
                <a:solidFill>
                  <a:srgbClr val="1E293B"/>
                </a:solidFill>
                <a:latin typeface="Arial"/>
              </a:defRPr>
            </a:pPr>
            <a:r>
              <a:t>•  customer_name</a:t>
            </a:r>
          </a:p>
          <a:p>
            <a:pPr>
              <a:spcAft>
                <a:spcPts val="600"/>
              </a:spcAft>
              <a:defRPr sz="1300">
                <a:solidFill>
                  <a:srgbClr val="1E293B"/>
                </a:solidFill>
                <a:latin typeface="Arial"/>
              </a:defRPr>
            </a:pPr>
            <a:r>
              <a:t>•  email</a:t>
            </a:r>
          </a:p>
          <a:p>
            <a:pPr>
              <a:spcAft>
                <a:spcPts val="600"/>
              </a:spcAft>
              <a:defRPr sz="1300">
                <a:solidFill>
                  <a:srgbClr val="1E293B"/>
                </a:solidFill>
                <a:latin typeface="Arial"/>
              </a:defRPr>
            </a:pPr>
            <a:r>
              <a:t>•  phone</a:t>
            </a:r>
          </a:p>
          <a:p>
            <a:pPr>
              <a:spcAft>
                <a:spcPts val="600"/>
              </a:spcAft>
              <a:defRPr sz="1300">
                <a:solidFill>
                  <a:srgbClr val="1E293B"/>
                </a:solidFill>
                <a:latin typeface="Arial"/>
              </a:defRPr>
            </a:pPr>
            <a:r>
              <a:t>•  subject</a:t>
            </a:r>
          </a:p>
          <a:p>
            <a:pPr>
              <a:spcAft>
                <a:spcPts val="600"/>
              </a:spcAft>
              <a:defRPr sz="1300">
                <a:solidFill>
                  <a:srgbClr val="1E293B"/>
                </a:solidFill>
                <a:latin typeface="Arial"/>
              </a:defRPr>
            </a:pPr>
            <a:r>
              <a:t>•  status</a:t>
            </a:r>
          </a:p>
        </p:txBody>
      </p:sp>
      <p:sp>
        <p:nvSpPr>
          <p:cNvPr id="12" name="Rounded Rectangle 11"/>
          <p:cNvSpPr/>
          <p:nvPr/>
        </p:nvSpPr>
        <p:spPr>
          <a:xfrm>
            <a:off x="4297680" y="4023360"/>
            <a:ext cx="3383280" cy="21945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480560" y="4206240"/>
            <a:ext cx="3017520" cy="1828800"/>
          </a:xfrm>
          <a:prstGeom prst="rect">
            <a:avLst/>
          </a:prstGeom>
          <a:noFill/>
        </p:spPr>
        <p:txBody>
          <a:bodyPr wrap="square">
            <a:spAutoFit/>
          </a:bodyPr>
          <a:lstStyle/>
          <a:p>
            <a:pPr>
              <a:spcAft>
                <a:spcPts val="1000"/>
              </a:spcAft>
              <a:defRPr sz="1600" b="1">
                <a:solidFill>
                  <a:srgbClr val="0F172A"/>
                </a:solidFill>
                <a:latin typeface="Arial"/>
              </a:defRPr>
            </a:pPr>
            <a:r>
              <a:t>🗄️ Table: KnowledgeBase</a:t>
            </a:r>
          </a:p>
          <a:p>
            <a:pPr>
              <a:spcAft>
                <a:spcPts val="600"/>
              </a:spcAft>
              <a:defRPr sz="1300">
                <a:solidFill>
                  <a:srgbClr val="1E293B"/>
                </a:solidFill>
                <a:latin typeface="Arial"/>
              </a:defRPr>
            </a:pPr>
            <a:r>
              <a:t>•  id (PK)</a:t>
            </a:r>
          </a:p>
          <a:p>
            <a:pPr>
              <a:spcAft>
                <a:spcPts val="600"/>
              </a:spcAft>
              <a:defRPr sz="1300">
                <a:solidFill>
                  <a:srgbClr val="1E293B"/>
                </a:solidFill>
                <a:latin typeface="Arial"/>
              </a:defRPr>
            </a:pPr>
            <a:r>
              <a:t>•  question</a:t>
            </a:r>
          </a:p>
          <a:p>
            <a:pPr>
              <a:spcAft>
                <a:spcPts val="600"/>
              </a:spcAft>
              <a:defRPr sz="1300">
                <a:solidFill>
                  <a:srgbClr val="1E293B"/>
                </a:solidFill>
                <a:latin typeface="Arial"/>
              </a:defRPr>
            </a:pPr>
            <a:r>
              <a:t>•  answer</a:t>
            </a:r>
          </a:p>
          <a:p>
            <a:pPr>
              <a:spcAft>
                <a:spcPts val="600"/>
              </a:spcAft>
              <a:defRPr sz="1300">
                <a:solidFill>
                  <a:srgbClr val="1E293B"/>
                </a:solidFill>
                <a:latin typeface="Arial"/>
              </a:defRPr>
            </a:pPr>
            <a:r>
              <a:t>•  category</a:t>
            </a:r>
          </a:p>
          <a:p>
            <a:pPr>
              <a:spcAft>
                <a:spcPts val="600"/>
              </a:spcAft>
              <a:defRPr sz="1300">
                <a:solidFill>
                  <a:srgbClr val="1E293B"/>
                </a:solidFill>
                <a:latin typeface="Arial"/>
              </a:defRPr>
            </a:pPr>
            <a:r>
              <a:t>•  is_published</a:t>
            </a:r>
          </a:p>
          <a:p>
            <a:pPr>
              <a:spcAft>
                <a:spcPts val="600"/>
              </a:spcAft>
              <a:defRPr sz="1300">
                <a:solidFill>
                  <a:srgbClr val="1E293B"/>
                </a:solidFill>
                <a:latin typeface="Arial"/>
              </a:defRPr>
            </a:pPr>
            <a:r>
              <a:t>•  created_at</a:t>
            </a:r>
          </a:p>
        </p:txBody>
      </p:sp>
      <p:sp>
        <p:nvSpPr>
          <p:cNvPr id="14" name="Rounded Rectangle 13"/>
          <p:cNvSpPr/>
          <p:nvPr/>
        </p:nvSpPr>
        <p:spPr>
          <a:xfrm>
            <a:off x="7863840" y="4023360"/>
            <a:ext cx="3383280" cy="21945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046720" y="4206240"/>
            <a:ext cx="3017520" cy="1828800"/>
          </a:xfrm>
          <a:prstGeom prst="rect">
            <a:avLst/>
          </a:prstGeom>
          <a:noFill/>
        </p:spPr>
        <p:txBody>
          <a:bodyPr wrap="square">
            <a:spAutoFit/>
          </a:bodyPr>
          <a:lstStyle/>
          <a:p>
            <a:pPr>
              <a:spcAft>
                <a:spcPts val="1000"/>
              </a:spcAft>
              <a:defRPr sz="1600" b="1">
                <a:solidFill>
                  <a:srgbClr val="0F172A"/>
                </a:solidFill>
                <a:latin typeface="Arial"/>
              </a:defRPr>
            </a:pPr>
            <a:r>
              <a:t>🗄️ Table: ActivityLog</a:t>
            </a:r>
          </a:p>
          <a:p>
            <a:pPr>
              <a:spcAft>
                <a:spcPts val="600"/>
              </a:spcAft>
              <a:defRPr sz="1300">
                <a:solidFill>
                  <a:srgbClr val="1E293B"/>
                </a:solidFill>
                <a:latin typeface="Arial"/>
              </a:defRPr>
            </a:pPr>
            <a:r>
              <a:t>•  id (PK)</a:t>
            </a:r>
          </a:p>
          <a:p>
            <a:pPr>
              <a:spcAft>
                <a:spcPts val="600"/>
              </a:spcAft>
              <a:defRPr sz="1300">
                <a:solidFill>
                  <a:srgbClr val="1E293B"/>
                </a:solidFill>
                <a:latin typeface="Arial"/>
              </a:defRPr>
            </a:pPr>
            <a:r>
              <a:t>•  admin_id (FK)</a:t>
            </a:r>
          </a:p>
          <a:p>
            <a:pPr>
              <a:spcAft>
                <a:spcPts val="600"/>
              </a:spcAft>
              <a:defRPr sz="1300">
                <a:solidFill>
                  <a:srgbClr val="1E293B"/>
                </a:solidFill>
                <a:latin typeface="Arial"/>
              </a:defRPr>
            </a:pPr>
            <a:r>
              <a:t>•  action</a:t>
            </a:r>
          </a:p>
          <a:p>
            <a:pPr>
              <a:spcAft>
                <a:spcPts val="600"/>
              </a:spcAft>
              <a:defRPr sz="1300">
                <a:solidFill>
                  <a:srgbClr val="1E293B"/>
                </a:solidFill>
                <a:latin typeface="Arial"/>
              </a:defRPr>
            </a:pPr>
            <a:r>
              <a:t>•  details</a:t>
            </a:r>
          </a:p>
          <a:p>
            <a:pPr>
              <a:spcAft>
                <a:spcPts val="600"/>
              </a:spcAft>
              <a:defRPr sz="1300">
                <a:solidFill>
                  <a:srgbClr val="1E293B"/>
                </a:solidFill>
                <a:latin typeface="Arial"/>
              </a:defRPr>
            </a:pPr>
            <a:r>
              <a:t>•  ip_address</a:t>
            </a:r>
          </a:p>
          <a:p>
            <a:pPr>
              <a:spcAft>
                <a:spcPts val="600"/>
              </a:spcAft>
              <a:defRPr sz="1300">
                <a:solidFill>
                  <a:srgbClr val="1E293B"/>
                </a:solidFill>
                <a:latin typeface="Arial"/>
              </a:defRPr>
            </a:pPr>
            <a:r>
              <a:t>•  timestamp</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365760"/>
          </a:xfrm>
          <a:prstGeom prst="rect">
            <a:avLst/>
          </a:prstGeom>
          <a:noFill/>
        </p:spPr>
        <p:txBody>
          <a:bodyPr wrap="square">
            <a:spAutoFit/>
          </a:bodyPr>
          <a:lstStyle/>
          <a:p>
            <a:pPr>
              <a:defRPr sz="1000" b="1">
                <a:solidFill>
                  <a:srgbClr val="0EA5E9"/>
                </a:solidFill>
                <a:latin typeface="Arial"/>
              </a:defRPr>
            </a:pPr>
            <a:r>
              <a:t>AI-POWERED CUSTOMER SUPPORT PLATFORM</a:t>
            </a:r>
          </a:p>
        </p:txBody>
      </p:sp>
      <p:sp>
        <p:nvSpPr>
          <p:cNvPr id="3" name="TextBox 2"/>
          <p:cNvSpPr txBox="1"/>
          <p:nvPr/>
        </p:nvSpPr>
        <p:spPr>
          <a:xfrm>
            <a:off x="731520" y="640080"/>
            <a:ext cx="10698480" cy="731520"/>
          </a:xfrm>
          <a:prstGeom prst="rect">
            <a:avLst/>
          </a:prstGeom>
          <a:noFill/>
        </p:spPr>
        <p:txBody>
          <a:bodyPr wrap="square">
            <a:spAutoFit/>
          </a:bodyPr>
          <a:lstStyle/>
          <a:p>
            <a:pPr>
              <a:defRPr sz="2400" b="1">
                <a:solidFill>
                  <a:srgbClr val="0F172A"/>
                </a:solidFill>
                <a:latin typeface="Arial"/>
              </a:defRPr>
            </a:pPr>
            <a:r>
              <a:t>End-to-End Execution Workflow</a:t>
            </a:r>
          </a:p>
        </p:txBody>
      </p:sp>
      <p:sp>
        <p:nvSpPr>
          <p:cNvPr id="4" name="Rounded Rectangle 3"/>
          <p:cNvSpPr/>
          <p:nvPr/>
        </p:nvSpPr>
        <p:spPr>
          <a:xfrm>
            <a:off x="731520" y="1645920"/>
            <a:ext cx="10698480" cy="7772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0" y="1737360"/>
            <a:ext cx="10332720" cy="594360"/>
          </a:xfrm>
          <a:prstGeom prst="rect">
            <a:avLst/>
          </a:prstGeom>
          <a:noFill/>
        </p:spPr>
        <p:txBody>
          <a:bodyPr wrap="square">
            <a:spAutoFit/>
          </a:bodyPr>
          <a:lstStyle/>
          <a:p>
            <a:r>
              <a:rPr sz="1400" b="1">
                <a:solidFill>
                  <a:srgbClr val="0F172A"/>
                </a:solidFill>
              </a:rPr>
              <a:t>Step 1: Guest Inquiry: </a:t>
            </a:r>
            <a:r>
              <a:rPr sz="1300">
                <a:solidFill>
                  <a:srgbClr val="1E293B"/>
                </a:solidFill>
              </a:rPr>
              <a:t>Customer opens website and types query into instant ChatGPT interface.</a:t>
            </a:r>
          </a:p>
        </p:txBody>
      </p:sp>
      <p:sp>
        <p:nvSpPr>
          <p:cNvPr id="6" name="Rounded Rectangle 5"/>
          <p:cNvSpPr/>
          <p:nvPr/>
        </p:nvSpPr>
        <p:spPr>
          <a:xfrm>
            <a:off x="731520" y="2560320"/>
            <a:ext cx="10698480" cy="7772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2651760"/>
            <a:ext cx="10332720" cy="594360"/>
          </a:xfrm>
          <a:prstGeom prst="rect">
            <a:avLst/>
          </a:prstGeom>
          <a:noFill/>
        </p:spPr>
        <p:txBody>
          <a:bodyPr wrap="square">
            <a:spAutoFit/>
          </a:bodyPr>
          <a:lstStyle/>
          <a:p>
            <a:r>
              <a:rPr sz="1400" b="1">
                <a:solidFill>
                  <a:srgbClr val="0F172A"/>
                </a:solidFill>
              </a:rPr>
              <a:t>Step 2: Pre-LLM RAG Search: </a:t>
            </a:r>
            <a:r>
              <a:rPr sz="1300">
                <a:solidFill>
                  <a:srgbClr val="1E293B"/>
                </a:solidFill>
              </a:rPr>
              <a:t>System searches local KnowledgeBase FAQs for exact pattern match.</a:t>
            </a:r>
          </a:p>
        </p:txBody>
      </p:sp>
      <p:sp>
        <p:nvSpPr>
          <p:cNvPr id="8" name="Rounded Rectangle 7"/>
          <p:cNvSpPr/>
          <p:nvPr/>
        </p:nvSpPr>
        <p:spPr>
          <a:xfrm>
            <a:off x="731520" y="3474720"/>
            <a:ext cx="10698480" cy="7772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14400" y="3566160"/>
            <a:ext cx="10332720" cy="594360"/>
          </a:xfrm>
          <a:prstGeom prst="rect">
            <a:avLst/>
          </a:prstGeom>
          <a:noFill/>
        </p:spPr>
        <p:txBody>
          <a:bodyPr wrap="square">
            <a:spAutoFit/>
          </a:bodyPr>
          <a:lstStyle/>
          <a:p>
            <a:r>
              <a:rPr sz="1400" b="1">
                <a:solidFill>
                  <a:srgbClr val="0F172A"/>
                </a:solidFill>
              </a:rPr>
              <a:t>Step 3: AI LLM Generation: </a:t>
            </a:r>
            <a:r>
              <a:rPr sz="1300">
                <a:solidFill>
                  <a:srgbClr val="1E293B"/>
                </a:solidFill>
              </a:rPr>
              <a:t>If no FAQ match, queries configurable LLM (OpenAI/Gemini) with session history.</a:t>
            </a:r>
          </a:p>
        </p:txBody>
      </p:sp>
      <p:sp>
        <p:nvSpPr>
          <p:cNvPr id="10" name="Rounded Rectangle 9"/>
          <p:cNvSpPr/>
          <p:nvPr/>
        </p:nvSpPr>
        <p:spPr>
          <a:xfrm>
            <a:off x="731520" y="4389120"/>
            <a:ext cx="10698480" cy="777240"/>
          </a:xfrm>
          <a:prstGeom prst="roundRect">
            <a:avLst/>
          </a:prstGeom>
          <a:solidFill>
            <a:srgbClr val="FFFFFF"/>
          </a:solidFill>
          <a:ln w="1905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14400" y="4480560"/>
            <a:ext cx="10332720" cy="594360"/>
          </a:xfrm>
          <a:prstGeom prst="rect">
            <a:avLst/>
          </a:prstGeom>
          <a:noFill/>
        </p:spPr>
        <p:txBody>
          <a:bodyPr wrap="square">
            <a:spAutoFit/>
          </a:bodyPr>
          <a:lstStyle/>
          <a:p>
            <a:r>
              <a:rPr sz="1400" b="1">
                <a:solidFill>
                  <a:srgbClr val="0F172A"/>
                </a:solidFill>
              </a:rPr>
              <a:t>Step 4: Ticket Escalation: </a:t>
            </a:r>
            <a:r>
              <a:rPr sz="1300">
                <a:solidFill>
                  <a:srgbClr val="1E293B"/>
                </a:solidFill>
              </a:rPr>
              <a:t>If confidence &lt; 0.6, system prompts guest to open ticket &amp; generates Ticket ID.</a:t>
            </a:r>
          </a:p>
        </p:txBody>
      </p:sp>
      <p:sp>
        <p:nvSpPr>
          <p:cNvPr id="12" name="Rounded Rectangle 11"/>
          <p:cNvSpPr/>
          <p:nvPr/>
        </p:nvSpPr>
        <p:spPr>
          <a:xfrm>
            <a:off x="731520" y="5303520"/>
            <a:ext cx="10698480" cy="7772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14400" y="5394960"/>
            <a:ext cx="10332720" cy="594360"/>
          </a:xfrm>
          <a:prstGeom prst="rect">
            <a:avLst/>
          </a:prstGeom>
          <a:noFill/>
        </p:spPr>
        <p:txBody>
          <a:bodyPr wrap="square">
            <a:spAutoFit/>
          </a:bodyPr>
          <a:lstStyle/>
          <a:p>
            <a:r>
              <a:rPr sz="1400" b="1">
                <a:solidFill>
                  <a:srgbClr val="0F172A"/>
                </a:solidFill>
              </a:rPr>
              <a:t>Step 5: Admin Resolution: </a:t>
            </a:r>
            <a:r>
              <a:rPr sz="1300">
                <a:solidFill>
                  <a:srgbClr val="1E293B"/>
                </a:solidFill>
              </a:rPr>
              <a:t>Administrator reviews ticket in console, posts reply, and updates status.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365760"/>
          </a:xfrm>
          <a:prstGeom prst="rect">
            <a:avLst/>
          </a:prstGeom>
          <a:noFill/>
        </p:spPr>
        <p:txBody>
          <a:bodyPr wrap="square">
            <a:spAutoFit/>
          </a:bodyPr>
          <a:lstStyle/>
          <a:p>
            <a:pPr>
              <a:defRPr sz="1000" b="1">
                <a:solidFill>
                  <a:srgbClr val="0EA5E9"/>
                </a:solidFill>
                <a:latin typeface="Arial"/>
              </a:defRPr>
            </a:pPr>
            <a:r>
              <a:t>AI-POWERED CUSTOMER SUPPORT PLATFORM</a:t>
            </a:r>
          </a:p>
        </p:txBody>
      </p:sp>
      <p:sp>
        <p:nvSpPr>
          <p:cNvPr id="3" name="TextBox 2"/>
          <p:cNvSpPr txBox="1"/>
          <p:nvPr/>
        </p:nvSpPr>
        <p:spPr>
          <a:xfrm>
            <a:off x="731520" y="640080"/>
            <a:ext cx="10698480" cy="731520"/>
          </a:xfrm>
          <a:prstGeom prst="rect">
            <a:avLst/>
          </a:prstGeom>
          <a:noFill/>
        </p:spPr>
        <p:txBody>
          <a:bodyPr wrap="square">
            <a:spAutoFit/>
          </a:bodyPr>
          <a:lstStyle/>
          <a:p>
            <a:pPr>
              <a:defRPr sz="2400" b="1">
                <a:solidFill>
                  <a:srgbClr val="0F172A"/>
                </a:solidFill>
                <a:latin typeface="Arial"/>
              </a:defRPr>
            </a:pPr>
            <a:r>
              <a:t>Customer Experience &amp; Public Module</a:t>
            </a:r>
          </a:p>
        </p:txBody>
      </p:sp>
      <p:sp>
        <p:nvSpPr>
          <p:cNvPr id="4" name="Rounded Rectangle 3"/>
          <p:cNvSpPr/>
          <p:nvPr/>
        </p:nvSpPr>
        <p:spPr>
          <a:xfrm>
            <a:off x="731520" y="1645920"/>
            <a:ext cx="3291840" cy="4572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0" y="1828800"/>
            <a:ext cx="2926080" cy="4206240"/>
          </a:xfrm>
          <a:prstGeom prst="rect">
            <a:avLst/>
          </a:prstGeom>
          <a:noFill/>
        </p:spPr>
        <p:txBody>
          <a:bodyPr wrap="square">
            <a:spAutoFit/>
          </a:bodyPr>
          <a:lstStyle/>
          <a:p>
            <a:pPr>
              <a:spcAft>
                <a:spcPts val="1000"/>
              </a:spcAft>
              <a:defRPr sz="1600" b="1">
                <a:solidFill>
                  <a:srgbClr val="0F172A"/>
                </a:solidFill>
                <a:latin typeface="Arial"/>
              </a:defRPr>
            </a:pPr>
            <a:r>
              <a:t>💬 Instant ChatGPT Interface</a:t>
            </a:r>
          </a:p>
          <a:p>
            <a:pPr>
              <a:spcAft>
                <a:spcPts val="600"/>
              </a:spcAft>
              <a:defRPr sz="1300">
                <a:solidFill>
                  <a:srgbClr val="1E293B"/>
                </a:solidFill>
                <a:latin typeface="Arial"/>
              </a:defRPr>
            </a:pPr>
            <a:r>
              <a:t>•  Embedded directly on homepage.</a:t>
            </a:r>
          </a:p>
          <a:p>
            <a:pPr>
              <a:spcAft>
                <a:spcPts val="600"/>
              </a:spcAft>
              <a:defRPr sz="1300">
                <a:solidFill>
                  <a:srgbClr val="1E293B"/>
                </a:solidFill>
                <a:latin typeface="Arial"/>
              </a:defRPr>
            </a:pPr>
            <a:r>
              <a:t>•  Zero registration or login required.</a:t>
            </a:r>
          </a:p>
          <a:p>
            <a:pPr>
              <a:spcAft>
                <a:spcPts val="600"/>
              </a:spcAft>
              <a:defRPr sz="1300">
                <a:solidFill>
                  <a:srgbClr val="1E293B"/>
                </a:solidFill>
                <a:latin typeface="Arial"/>
              </a:defRPr>
            </a:pPr>
            <a:r>
              <a:t>•  Real-time streaming typing animation.</a:t>
            </a:r>
          </a:p>
          <a:p>
            <a:pPr>
              <a:spcAft>
                <a:spcPts val="600"/>
              </a:spcAft>
              <a:defRPr sz="1300">
                <a:solidFill>
                  <a:srgbClr val="1E293B"/>
                </a:solidFill>
                <a:latin typeface="Arial"/>
              </a:defRPr>
            </a:pPr>
            <a:r>
              <a:t>•  Marked.js markdown rendering.</a:t>
            </a:r>
          </a:p>
          <a:p>
            <a:pPr>
              <a:spcAft>
                <a:spcPts val="600"/>
              </a:spcAft>
              <a:defRPr sz="1300">
                <a:solidFill>
                  <a:srgbClr val="1E293B"/>
                </a:solidFill>
                <a:latin typeface="Arial"/>
              </a:defRPr>
            </a:pPr>
            <a:r>
              <a:t>•  Auto-scroll &amp; clear conversation.</a:t>
            </a:r>
          </a:p>
        </p:txBody>
      </p:sp>
      <p:sp>
        <p:nvSpPr>
          <p:cNvPr id="6" name="Rounded Rectangle 5"/>
          <p:cNvSpPr/>
          <p:nvPr/>
        </p:nvSpPr>
        <p:spPr>
          <a:xfrm>
            <a:off x="4389120" y="1645920"/>
            <a:ext cx="3291840" cy="4572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0" y="1828800"/>
            <a:ext cx="2926080" cy="4206240"/>
          </a:xfrm>
          <a:prstGeom prst="rect">
            <a:avLst/>
          </a:prstGeom>
          <a:noFill/>
        </p:spPr>
        <p:txBody>
          <a:bodyPr wrap="square">
            <a:spAutoFit/>
          </a:bodyPr>
          <a:lstStyle/>
          <a:p>
            <a:pPr>
              <a:spcAft>
                <a:spcPts val="1000"/>
              </a:spcAft>
              <a:defRPr sz="1600" b="1">
                <a:solidFill>
                  <a:srgbClr val="0F172A"/>
                </a:solidFill>
                <a:latin typeface="Arial"/>
              </a:defRPr>
            </a:pPr>
            <a:r>
              <a:t>🎫 Guest Ticket Submission</a:t>
            </a:r>
          </a:p>
          <a:p>
            <a:pPr>
              <a:spcAft>
                <a:spcPts val="600"/>
              </a:spcAft>
              <a:defRPr sz="1300">
                <a:solidFill>
                  <a:srgbClr val="1E293B"/>
                </a:solidFill>
                <a:latin typeface="Arial"/>
              </a:defRPr>
            </a:pPr>
            <a:r>
              <a:t>•  Triggered automatically or manually.</a:t>
            </a:r>
          </a:p>
          <a:p>
            <a:pPr>
              <a:spcAft>
                <a:spcPts val="600"/>
              </a:spcAft>
              <a:defRPr sz="1300">
                <a:solidFill>
                  <a:srgbClr val="1E293B"/>
                </a:solidFill>
                <a:latin typeface="Arial"/>
              </a:defRPr>
            </a:pPr>
            <a:r>
              <a:t>•  Captures Name, Email, Phone, Subject, Description, Priority.</a:t>
            </a:r>
          </a:p>
          <a:p>
            <a:pPr>
              <a:spcAft>
                <a:spcPts val="600"/>
              </a:spcAft>
              <a:defRPr sz="1300">
                <a:solidFill>
                  <a:srgbClr val="1E293B"/>
                </a:solidFill>
                <a:latin typeface="Arial"/>
              </a:defRPr>
            </a:pPr>
            <a:r>
              <a:t>•  Generates unique Ticket ID (TICK-XXXXXXXX).</a:t>
            </a:r>
          </a:p>
          <a:p>
            <a:pPr>
              <a:spcAft>
                <a:spcPts val="600"/>
              </a:spcAft>
              <a:defRPr sz="1300">
                <a:solidFill>
                  <a:srgbClr val="1E293B"/>
                </a:solidFill>
                <a:latin typeface="Arial"/>
              </a:defRPr>
            </a:pPr>
            <a:r>
              <a:t>•  Saves directly to DB without user account.</a:t>
            </a:r>
          </a:p>
        </p:txBody>
      </p:sp>
      <p:sp>
        <p:nvSpPr>
          <p:cNvPr id="8" name="Rounded Rectangle 7"/>
          <p:cNvSpPr/>
          <p:nvPr/>
        </p:nvSpPr>
        <p:spPr>
          <a:xfrm>
            <a:off x="8046720" y="1645920"/>
            <a:ext cx="3383280" cy="4572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229600" y="1828800"/>
            <a:ext cx="3017520" cy="4206240"/>
          </a:xfrm>
          <a:prstGeom prst="rect">
            <a:avLst/>
          </a:prstGeom>
          <a:noFill/>
        </p:spPr>
        <p:txBody>
          <a:bodyPr wrap="square">
            <a:spAutoFit/>
          </a:bodyPr>
          <a:lstStyle/>
          <a:p>
            <a:pPr>
              <a:spcAft>
                <a:spcPts val="1000"/>
              </a:spcAft>
              <a:defRPr sz="1600" b="1">
                <a:solidFill>
                  <a:srgbClr val="0F172A"/>
                </a:solidFill>
                <a:latin typeface="Arial"/>
              </a:defRPr>
            </a:pPr>
            <a:r>
              <a:t>✨ Interactive UX Design</a:t>
            </a:r>
          </a:p>
          <a:p>
            <a:pPr>
              <a:spcAft>
                <a:spcPts val="600"/>
              </a:spcAft>
              <a:defRPr sz="1300">
                <a:solidFill>
                  <a:srgbClr val="1E293B"/>
                </a:solidFill>
                <a:latin typeface="Arial"/>
              </a:defRPr>
            </a:pPr>
            <a:r>
              <a:t>•  Sleek Glassmorphic dark theme.</a:t>
            </a:r>
          </a:p>
          <a:p>
            <a:pPr>
              <a:spcAft>
                <a:spcPts val="600"/>
              </a:spcAft>
              <a:defRPr sz="1300">
                <a:solidFill>
                  <a:srgbClr val="1E293B"/>
                </a:solidFill>
                <a:latin typeface="Arial"/>
              </a:defRPr>
            </a:pPr>
            <a:r>
              <a:t>•  Pre-filled quick question prompts.</a:t>
            </a:r>
          </a:p>
          <a:p>
            <a:pPr>
              <a:spcAft>
                <a:spcPts val="600"/>
              </a:spcAft>
              <a:defRPr sz="1300">
                <a:solidFill>
                  <a:srgbClr val="1E293B"/>
                </a:solidFill>
                <a:latin typeface="Arial"/>
              </a:defRPr>
            </a:pPr>
            <a:r>
              <a:t>•  Copy response button &amp; code highlight.</a:t>
            </a:r>
          </a:p>
          <a:p>
            <a:pPr>
              <a:spcAft>
                <a:spcPts val="600"/>
              </a:spcAft>
              <a:defRPr sz="1300">
                <a:solidFill>
                  <a:srgbClr val="1E293B"/>
                </a:solidFill>
                <a:latin typeface="Arial"/>
              </a:defRPr>
            </a:pPr>
            <a:r>
              <a:t>•  Fully responsive on mobile &amp; desktop.</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365760"/>
          </a:xfrm>
          <a:prstGeom prst="rect">
            <a:avLst/>
          </a:prstGeom>
          <a:noFill/>
        </p:spPr>
        <p:txBody>
          <a:bodyPr wrap="square">
            <a:spAutoFit/>
          </a:bodyPr>
          <a:lstStyle/>
          <a:p>
            <a:pPr>
              <a:defRPr sz="1000" b="1">
                <a:solidFill>
                  <a:srgbClr val="0EA5E9"/>
                </a:solidFill>
                <a:latin typeface="Arial"/>
              </a:defRPr>
            </a:pPr>
            <a:r>
              <a:t>AI-POWERED CUSTOMER SUPPORT PLATFORM</a:t>
            </a:r>
          </a:p>
        </p:txBody>
      </p:sp>
      <p:sp>
        <p:nvSpPr>
          <p:cNvPr id="3" name="TextBox 2"/>
          <p:cNvSpPr txBox="1"/>
          <p:nvPr/>
        </p:nvSpPr>
        <p:spPr>
          <a:xfrm>
            <a:off x="731520" y="640080"/>
            <a:ext cx="10698480" cy="731520"/>
          </a:xfrm>
          <a:prstGeom prst="rect">
            <a:avLst/>
          </a:prstGeom>
          <a:noFill/>
        </p:spPr>
        <p:txBody>
          <a:bodyPr wrap="square">
            <a:spAutoFit/>
          </a:bodyPr>
          <a:lstStyle/>
          <a:p>
            <a:pPr>
              <a:defRPr sz="2400" b="1">
                <a:solidFill>
                  <a:srgbClr val="0F172A"/>
                </a:solidFill>
                <a:latin typeface="Arial"/>
              </a:defRPr>
            </a:pPr>
            <a:r>
              <a:t>Admin Console &amp; Operations Module</a:t>
            </a:r>
          </a:p>
        </p:txBody>
      </p:sp>
      <p:sp>
        <p:nvSpPr>
          <p:cNvPr id="4" name="Rounded Rectangle 3"/>
          <p:cNvSpPr/>
          <p:nvPr/>
        </p:nvSpPr>
        <p:spPr>
          <a:xfrm>
            <a:off x="731520" y="1645920"/>
            <a:ext cx="3291840" cy="4572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0" y="1828800"/>
            <a:ext cx="2926080" cy="4206240"/>
          </a:xfrm>
          <a:prstGeom prst="rect">
            <a:avLst/>
          </a:prstGeom>
          <a:noFill/>
        </p:spPr>
        <p:txBody>
          <a:bodyPr wrap="square">
            <a:spAutoFit/>
          </a:bodyPr>
          <a:lstStyle/>
          <a:p>
            <a:pPr>
              <a:spcAft>
                <a:spcPts val="1000"/>
              </a:spcAft>
              <a:defRPr sz="1600" b="1">
                <a:solidFill>
                  <a:srgbClr val="0F172A"/>
                </a:solidFill>
                <a:latin typeface="Arial"/>
              </a:defRPr>
            </a:pPr>
            <a:r>
              <a:t>⚙️ Authentication &amp; Dashboard</a:t>
            </a:r>
          </a:p>
          <a:p>
            <a:pPr>
              <a:spcAft>
                <a:spcPts val="600"/>
              </a:spcAft>
              <a:defRPr sz="1300">
                <a:solidFill>
                  <a:srgbClr val="1E293B"/>
                </a:solidFill>
                <a:latin typeface="Arial"/>
              </a:defRPr>
            </a:pPr>
            <a:r>
              <a:t>•  Flask-Login protected access (/admin/login).</a:t>
            </a:r>
          </a:p>
          <a:p>
            <a:pPr>
              <a:spcAft>
                <a:spcPts val="600"/>
              </a:spcAft>
              <a:defRPr sz="1300">
                <a:solidFill>
                  <a:srgbClr val="1E293B"/>
                </a:solidFill>
                <a:latin typeface="Arial"/>
              </a:defRPr>
            </a:pPr>
            <a:r>
              <a:t>•  Seeded credentials (admin@example.com).</a:t>
            </a:r>
          </a:p>
          <a:p>
            <a:pPr>
              <a:spcAft>
                <a:spcPts val="600"/>
              </a:spcAft>
              <a:defRPr sz="1300">
                <a:solidFill>
                  <a:srgbClr val="1E293B"/>
                </a:solidFill>
                <a:latin typeface="Arial"/>
              </a:defRPr>
            </a:pPr>
            <a:r>
              <a:t>•  Stat cards: Total, Open, Closed Tickets, AI Conversations, Messages.</a:t>
            </a:r>
          </a:p>
          <a:p>
            <a:pPr>
              <a:spcAft>
                <a:spcPts val="600"/>
              </a:spcAft>
              <a:defRPr sz="1300">
                <a:solidFill>
                  <a:srgbClr val="1E293B"/>
                </a:solidFill>
                <a:latin typeface="Arial"/>
              </a:defRPr>
            </a:pPr>
            <a:r>
              <a:t>•  Recent ticket queue overview.</a:t>
            </a:r>
          </a:p>
        </p:txBody>
      </p:sp>
      <p:sp>
        <p:nvSpPr>
          <p:cNvPr id="6" name="Rounded Rectangle 5"/>
          <p:cNvSpPr/>
          <p:nvPr/>
        </p:nvSpPr>
        <p:spPr>
          <a:xfrm>
            <a:off x="4389120" y="1645920"/>
            <a:ext cx="3291840" cy="4572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0" y="1828800"/>
            <a:ext cx="2926080" cy="4206240"/>
          </a:xfrm>
          <a:prstGeom prst="rect">
            <a:avLst/>
          </a:prstGeom>
          <a:noFill/>
        </p:spPr>
        <p:txBody>
          <a:bodyPr wrap="square">
            <a:spAutoFit/>
          </a:bodyPr>
          <a:lstStyle/>
          <a:p>
            <a:pPr>
              <a:spcAft>
                <a:spcPts val="1000"/>
              </a:spcAft>
              <a:defRPr sz="1600" b="1">
                <a:solidFill>
                  <a:srgbClr val="0F172A"/>
                </a:solidFill>
                <a:latin typeface="Arial"/>
              </a:defRPr>
            </a:pPr>
            <a:r>
              <a:t>📋 Ticket &amp; FAQ Management</a:t>
            </a:r>
          </a:p>
          <a:p>
            <a:pPr>
              <a:spcAft>
                <a:spcPts val="600"/>
              </a:spcAft>
              <a:defRPr sz="1300">
                <a:solidFill>
                  <a:srgbClr val="1E293B"/>
                </a:solidFill>
                <a:latin typeface="Arial"/>
              </a:defRPr>
            </a:pPr>
            <a:r>
              <a:t>•  Search, filter by status, view details.</a:t>
            </a:r>
          </a:p>
          <a:p>
            <a:pPr>
              <a:spcAft>
                <a:spcPts val="600"/>
              </a:spcAft>
              <a:defRPr sz="1300">
                <a:solidFill>
                  <a:srgbClr val="1E293B"/>
                </a:solidFill>
                <a:latin typeface="Arial"/>
              </a:defRPr>
            </a:pPr>
            <a:r>
              <a:t>•  Post admin replies &amp; update ticket status.</a:t>
            </a:r>
          </a:p>
          <a:p>
            <a:pPr>
              <a:spcAft>
                <a:spcPts val="600"/>
              </a:spcAft>
              <a:defRPr sz="1300">
                <a:solidFill>
                  <a:srgbClr val="1E293B"/>
                </a:solidFill>
                <a:latin typeface="Arial"/>
              </a:defRPr>
            </a:pPr>
            <a:r>
              <a:t>•  Delete resolved or spam tickets.</a:t>
            </a:r>
          </a:p>
          <a:p>
            <a:pPr>
              <a:spcAft>
                <a:spcPts val="600"/>
              </a:spcAft>
              <a:defRPr sz="1300">
                <a:solidFill>
                  <a:srgbClr val="1E293B"/>
                </a:solidFill>
                <a:latin typeface="Arial"/>
              </a:defRPr>
            </a:pPr>
            <a:r>
              <a:t>•  Publish, edit, and delete Knowledge Base FAQs.</a:t>
            </a:r>
          </a:p>
        </p:txBody>
      </p:sp>
      <p:sp>
        <p:nvSpPr>
          <p:cNvPr id="8" name="Rounded Rectangle 7"/>
          <p:cNvSpPr/>
          <p:nvPr/>
        </p:nvSpPr>
        <p:spPr>
          <a:xfrm>
            <a:off x="8046720" y="1645920"/>
            <a:ext cx="3383280" cy="4572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229600" y="1828800"/>
            <a:ext cx="3017520" cy="4206240"/>
          </a:xfrm>
          <a:prstGeom prst="rect">
            <a:avLst/>
          </a:prstGeom>
          <a:noFill/>
        </p:spPr>
        <p:txBody>
          <a:bodyPr wrap="square">
            <a:spAutoFit/>
          </a:bodyPr>
          <a:lstStyle/>
          <a:p>
            <a:pPr>
              <a:spcAft>
                <a:spcPts val="1000"/>
              </a:spcAft>
              <a:defRPr sz="1600" b="1">
                <a:solidFill>
                  <a:srgbClr val="0F172A"/>
                </a:solidFill>
                <a:latin typeface="Arial"/>
              </a:defRPr>
            </a:pPr>
            <a:r>
              <a:t>📊 Analytics &amp; Data Export</a:t>
            </a:r>
          </a:p>
          <a:p>
            <a:pPr>
              <a:spcAft>
                <a:spcPts val="600"/>
              </a:spcAft>
              <a:defRPr sz="1300">
                <a:solidFill>
                  <a:srgbClr val="1E293B"/>
                </a:solidFill>
                <a:latin typeface="Arial"/>
              </a:defRPr>
            </a:pPr>
            <a:r>
              <a:t>•  Chart.js ticket status doughnut graph.</a:t>
            </a:r>
          </a:p>
          <a:p>
            <a:pPr>
              <a:spcAft>
                <a:spcPts val="600"/>
              </a:spcAft>
              <a:defRPr sz="1300">
                <a:solidFill>
                  <a:srgbClr val="1E293B"/>
                </a:solidFill>
                <a:latin typeface="Arial"/>
              </a:defRPr>
            </a:pPr>
            <a:r>
              <a:t>•  Category distribution bar chart.</a:t>
            </a:r>
          </a:p>
          <a:p>
            <a:pPr>
              <a:spcAft>
                <a:spcPts val="600"/>
              </a:spcAft>
              <a:defRPr sz="1300">
                <a:solidFill>
                  <a:srgbClr val="1E293B"/>
                </a:solidFill>
                <a:latin typeface="Arial"/>
              </a:defRPr>
            </a:pPr>
            <a:r>
              <a:t>•  7-day chat activity timeline.</a:t>
            </a:r>
          </a:p>
          <a:p>
            <a:pPr>
              <a:spcAft>
                <a:spcPts val="600"/>
              </a:spcAft>
              <a:defRPr sz="1300">
                <a:solidFill>
                  <a:srgbClr val="1E293B"/>
                </a:solidFill>
                <a:latin typeface="Arial"/>
              </a:defRPr>
            </a:pPr>
            <a:r>
              <a:t>•  One-click CSV report exporter (/admin/export/tickets).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365760"/>
          </a:xfrm>
          <a:prstGeom prst="rect">
            <a:avLst/>
          </a:prstGeom>
          <a:noFill/>
        </p:spPr>
        <p:txBody>
          <a:bodyPr wrap="square">
            <a:spAutoFit/>
          </a:bodyPr>
          <a:lstStyle/>
          <a:p>
            <a:pPr>
              <a:defRPr sz="1000" b="1">
                <a:solidFill>
                  <a:srgbClr val="0EA5E9"/>
                </a:solidFill>
                <a:latin typeface="Arial"/>
              </a:defRPr>
            </a:pPr>
            <a:r>
              <a:t>AI-POWERED CUSTOMER SUPPORT PLATFORM</a:t>
            </a:r>
          </a:p>
        </p:txBody>
      </p:sp>
      <p:sp>
        <p:nvSpPr>
          <p:cNvPr id="3" name="TextBox 2"/>
          <p:cNvSpPr txBox="1"/>
          <p:nvPr/>
        </p:nvSpPr>
        <p:spPr>
          <a:xfrm>
            <a:off x="731520" y="640080"/>
            <a:ext cx="10698480" cy="731520"/>
          </a:xfrm>
          <a:prstGeom prst="rect">
            <a:avLst/>
          </a:prstGeom>
          <a:noFill/>
        </p:spPr>
        <p:txBody>
          <a:bodyPr wrap="square">
            <a:spAutoFit/>
          </a:bodyPr>
          <a:lstStyle/>
          <a:p>
            <a:pPr>
              <a:defRPr sz="2400" b="1">
                <a:solidFill>
                  <a:srgbClr val="0F172A"/>
                </a:solidFill>
                <a:latin typeface="Arial"/>
              </a:defRPr>
            </a:pPr>
            <a:r>
              <a:t>Core Application Features Summary</a:t>
            </a:r>
          </a:p>
        </p:txBody>
      </p:sp>
      <p:sp>
        <p:nvSpPr>
          <p:cNvPr id="4" name="Rounded Rectangle 3"/>
          <p:cNvSpPr/>
          <p:nvPr/>
        </p:nvSpPr>
        <p:spPr>
          <a:xfrm>
            <a:off x="731520" y="1645920"/>
            <a:ext cx="5120640" cy="21945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0" y="1828800"/>
            <a:ext cx="4754880" cy="1828800"/>
          </a:xfrm>
          <a:prstGeom prst="rect">
            <a:avLst/>
          </a:prstGeom>
          <a:noFill/>
        </p:spPr>
        <p:txBody>
          <a:bodyPr wrap="square">
            <a:spAutoFit/>
          </a:bodyPr>
          <a:lstStyle/>
          <a:p>
            <a:pPr>
              <a:spcAft>
                <a:spcPts val="1000"/>
              </a:spcAft>
              <a:defRPr sz="1600" b="1">
                <a:solidFill>
                  <a:srgbClr val="0F172A"/>
                </a:solidFill>
                <a:latin typeface="Arial"/>
              </a:defRPr>
            </a:pPr>
            <a:r>
              <a:t>⚡ Real-Time AI Response</a:t>
            </a:r>
          </a:p>
          <a:p>
            <a:pPr>
              <a:spcAft>
                <a:spcPts val="600"/>
              </a:spcAft>
              <a:defRPr sz="1300">
                <a:solidFill>
                  <a:srgbClr val="1E293B"/>
                </a:solidFill>
                <a:latin typeface="Arial"/>
              </a:defRPr>
            </a:pPr>
            <a:r>
              <a:t>•  Markdown formatting for code and tables.</a:t>
            </a:r>
          </a:p>
          <a:p>
            <a:pPr>
              <a:spcAft>
                <a:spcPts val="600"/>
              </a:spcAft>
              <a:defRPr sz="1300">
                <a:solidFill>
                  <a:srgbClr val="1E293B"/>
                </a:solidFill>
                <a:latin typeface="Arial"/>
              </a:defRPr>
            </a:pPr>
            <a:r>
              <a:t>•  Context memory across chat session.</a:t>
            </a:r>
          </a:p>
        </p:txBody>
      </p:sp>
      <p:sp>
        <p:nvSpPr>
          <p:cNvPr id="6" name="Rounded Rectangle 5"/>
          <p:cNvSpPr/>
          <p:nvPr/>
        </p:nvSpPr>
        <p:spPr>
          <a:xfrm>
            <a:off x="6217920" y="1645920"/>
            <a:ext cx="5212080" cy="21945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400800" y="1828800"/>
            <a:ext cx="4846320" cy="1828800"/>
          </a:xfrm>
          <a:prstGeom prst="rect">
            <a:avLst/>
          </a:prstGeom>
          <a:noFill/>
        </p:spPr>
        <p:txBody>
          <a:bodyPr wrap="square">
            <a:spAutoFit/>
          </a:bodyPr>
          <a:lstStyle/>
          <a:p>
            <a:pPr>
              <a:spcAft>
                <a:spcPts val="1000"/>
              </a:spcAft>
              <a:defRPr sz="1600" b="1">
                <a:solidFill>
                  <a:srgbClr val="0F172A"/>
                </a:solidFill>
                <a:latin typeface="Arial"/>
              </a:defRPr>
            </a:pPr>
            <a:r>
              <a:t>🎫 Automated Ticket Creation</a:t>
            </a:r>
          </a:p>
          <a:p>
            <a:pPr>
              <a:spcAft>
                <a:spcPts val="600"/>
              </a:spcAft>
              <a:defRPr sz="1300">
                <a:solidFill>
                  <a:srgbClr val="1E293B"/>
                </a:solidFill>
                <a:latin typeface="Arial"/>
              </a:defRPr>
            </a:pPr>
            <a:r>
              <a:t>•  Unique Ticket ID generation (TICK-XXXXXXXX).</a:t>
            </a:r>
          </a:p>
          <a:p>
            <a:pPr>
              <a:spcAft>
                <a:spcPts val="600"/>
              </a:spcAft>
              <a:defRPr sz="1300">
                <a:solidFill>
                  <a:srgbClr val="1E293B"/>
                </a:solidFill>
                <a:latin typeface="Arial"/>
              </a:defRPr>
            </a:pPr>
            <a:r>
              <a:t>•  Direct database storage with email alerts.</a:t>
            </a:r>
          </a:p>
        </p:txBody>
      </p:sp>
      <p:sp>
        <p:nvSpPr>
          <p:cNvPr id="8" name="Rounded Rectangle 7"/>
          <p:cNvSpPr/>
          <p:nvPr/>
        </p:nvSpPr>
        <p:spPr>
          <a:xfrm>
            <a:off x="731520" y="4114800"/>
            <a:ext cx="5120640" cy="21945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14400" y="4297680"/>
            <a:ext cx="4754880" cy="1828800"/>
          </a:xfrm>
          <a:prstGeom prst="rect">
            <a:avLst/>
          </a:prstGeom>
          <a:noFill/>
        </p:spPr>
        <p:txBody>
          <a:bodyPr wrap="square">
            <a:spAutoFit/>
          </a:bodyPr>
          <a:lstStyle/>
          <a:p>
            <a:pPr>
              <a:spcAft>
                <a:spcPts val="1000"/>
              </a:spcAft>
              <a:defRPr sz="1600" b="1">
                <a:solidFill>
                  <a:srgbClr val="0F172A"/>
                </a:solidFill>
                <a:latin typeface="Arial"/>
              </a:defRPr>
            </a:pPr>
            <a:r>
              <a:t>💎 Glassmorphism UI &amp; Dark Mode</a:t>
            </a:r>
          </a:p>
          <a:p>
            <a:pPr>
              <a:spcAft>
                <a:spcPts val="600"/>
              </a:spcAft>
              <a:defRPr sz="1300">
                <a:solidFill>
                  <a:srgbClr val="1E293B"/>
                </a:solidFill>
                <a:latin typeface="Arial"/>
              </a:defRPr>
            </a:pPr>
            <a:r>
              <a:t>•  Modern Bootstrap 5 aesthetic.</a:t>
            </a:r>
          </a:p>
          <a:p>
            <a:pPr>
              <a:spcAft>
                <a:spcPts val="600"/>
              </a:spcAft>
              <a:defRPr sz="1300">
                <a:solidFill>
                  <a:srgbClr val="1E293B"/>
                </a:solidFill>
                <a:latin typeface="Arial"/>
              </a:defRPr>
            </a:pPr>
            <a:r>
              <a:t>•  Responsive layout optimized for mobile.</a:t>
            </a:r>
          </a:p>
        </p:txBody>
      </p:sp>
      <p:sp>
        <p:nvSpPr>
          <p:cNvPr id="10" name="Rounded Rectangle 9"/>
          <p:cNvSpPr/>
          <p:nvPr/>
        </p:nvSpPr>
        <p:spPr>
          <a:xfrm>
            <a:off x="6217920" y="4114800"/>
            <a:ext cx="5212080" cy="21945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00800" y="4297680"/>
            <a:ext cx="4846320" cy="1828800"/>
          </a:xfrm>
          <a:prstGeom prst="rect">
            <a:avLst/>
          </a:prstGeom>
          <a:noFill/>
        </p:spPr>
        <p:txBody>
          <a:bodyPr wrap="square">
            <a:spAutoFit/>
          </a:bodyPr>
          <a:lstStyle/>
          <a:p>
            <a:pPr>
              <a:spcAft>
                <a:spcPts val="1000"/>
              </a:spcAft>
              <a:defRPr sz="1600" b="1">
                <a:solidFill>
                  <a:srgbClr val="0F172A"/>
                </a:solidFill>
                <a:latin typeface="Arial"/>
              </a:defRPr>
            </a:pPr>
            <a:r>
              <a:t>📈 Data Export &amp; Analytics</a:t>
            </a:r>
          </a:p>
          <a:p>
            <a:pPr>
              <a:spcAft>
                <a:spcPts val="600"/>
              </a:spcAft>
              <a:defRPr sz="1300">
                <a:solidFill>
                  <a:srgbClr val="1E293B"/>
                </a:solidFill>
                <a:latin typeface="Arial"/>
              </a:defRPr>
            </a:pPr>
            <a:r>
              <a:t>•  Interactive Chart.js status graphs.</a:t>
            </a:r>
          </a:p>
          <a:p>
            <a:pPr>
              <a:spcAft>
                <a:spcPts val="600"/>
              </a:spcAft>
              <a:defRPr sz="1300">
                <a:solidFill>
                  <a:srgbClr val="1E293B"/>
                </a:solidFill>
                <a:latin typeface="Arial"/>
              </a:defRPr>
            </a:pPr>
            <a:r>
              <a:t>•  One-click CSV ticket report download.</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365760"/>
          </a:xfrm>
          <a:prstGeom prst="rect">
            <a:avLst/>
          </a:prstGeom>
          <a:noFill/>
        </p:spPr>
        <p:txBody>
          <a:bodyPr wrap="square">
            <a:spAutoFit/>
          </a:bodyPr>
          <a:lstStyle/>
          <a:p>
            <a:pPr>
              <a:defRPr sz="1000" b="1">
                <a:solidFill>
                  <a:srgbClr val="0EA5E9"/>
                </a:solidFill>
                <a:latin typeface="Arial"/>
              </a:defRPr>
            </a:pPr>
            <a:r>
              <a:t>AI-POWERED CUSTOMER SUPPORT PLATFORM</a:t>
            </a:r>
          </a:p>
        </p:txBody>
      </p:sp>
      <p:sp>
        <p:nvSpPr>
          <p:cNvPr id="3" name="TextBox 2"/>
          <p:cNvSpPr txBox="1"/>
          <p:nvPr/>
        </p:nvSpPr>
        <p:spPr>
          <a:xfrm>
            <a:off x="731520" y="640080"/>
            <a:ext cx="10698480" cy="731520"/>
          </a:xfrm>
          <a:prstGeom prst="rect">
            <a:avLst/>
          </a:prstGeom>
          <a:noFill/>
        </p:spPr>
        <p:txBody>
          <a:bodyPr wrap="square">
            <a:spAutoFit/>
          </a:bodyPr>
          <a:lstStyle/>
          <a:p>
            <a:pPr>
              <a:defRPr sz="2400" b="1">
                <a:solidFill>
                  <a:srgbClr val="0F172A"/>
                </a:solidFill>
                <a:latin typeface="Arial"/>
              </a:defRPr>
            </a:pPr>
            <a:r>
              <a:t>Key Advantages &amp; Business Benefits</a:t>
            </a:r>
          </a:p>
        </p:txBody>
      </p:sp>
      <p:sp>
        <p:nvSpPr>
          <p:cNvPr id="4" name="Rounded Rectangle 3"/>
          <p:cNvSpPr/>
          <p:nvPr/>
        </p:nvSpPr>
        <p:spPr>
          <a:xfrm>
            <a:off x="731520" y="1645920"/>
            <a:ext cx="3291840" cy="4572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0" y="1828800"/>
            <a:ext cx="2926080" cy="4206240"/>
          </a:xfrm>
          <a:prstGeom prst="rect">
            <a:avLst/>
          </a:prstGeom>
          <a:noFill/>
        </p:spPr>
        <p:txBody>
          <a:bodyPr wrap="square">
            <a:spAutoFit/>
          </a:bodyPr>
          <a:lstStyle/>
          <a:p>
            <a:pPr>
              <a:spcAft>
                <a:spcPts val="1000"/>
              </a:spcAft>
              <a:defRPr sz="1600" b="1">
                <a:solidFill>
                  <a:srgbClr val="0F172A"/>
                </a:solidFill>
                <a:latin typeface="Arial"/>
              </a:defRPr>
            </a:pPr>
            <a:r>
              <a:t>🚪 Zero Friction User Access</a:t>
            </a:r>
          </a:p>
          <a:p>
            <a:pPr>
              <a:spcAft>
                <a:spcPts val="600"/>
              </a:spcAft>
              <a:defRPr sz="1300">
                <a:solidFill>
                  <a:srgbClr val="1E293B"/>
                </a:solidFill>
                <a:latin typeface="Arial"/>
              </a:defRPr>
            </a:pPr>
            <a:r>
              <a:t>•  No mandatory login screen.</a:t>
            </a:r>
          </a:p>
          <a:p>
            <a:pPr>
              <a:spcAft>
                <a:spcPts val="600"/>
              </a:spcAft>
              <a:defRPr sz="1300">
                <a:solidFill>
                  <a:srgbClr val="1E293B"/>
                </a:solidFill>
                <a:latin typeface="Arial"/>
              </a:defRPr>
            </a:pPr>
            <a:r>
              <a:t>•  Instant access to support on homepage.</a:t>
            </a:r>
          </a:p>
          <a:p>
            <a:pPr>
              <a:spcAft>
                <a:spcPts val="600"/>
              </a:spcAft>
              <a:defRPr sz="1300">
                <a:solidFill>
                  <a:srgbClr val="1E293B"/>
                </a:solidFill>
                <a:latin typeface="Arial"/>
              </a:defRPr>
            </a:pPr>
            <a:r>
              <a:t>•  Drastically reduces visitor bounce rates.</a:t>
            </a:r>
          </a:p>
        </p:txBody>
      </p:sp>
      <p:sp>
        <p:nvSpPr>
          <p:cNvPr id="6" name="Rounded Rectangle 5"/>
          <p:cNvSpPr/>
          <p:nvPr/>
        </p:nvSpPr>
        <p:spPr>
          <a:xfrm>
            <a:off x="4389120" y="1645920"/>
            <a:ext cx="3291840" cy="4572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0" y="1828800"/>
            <a:ext cx="2926080" cy="4206240"/>
          </a:xfrm>
          <a:prstGeom prst="rect">
            <a:avLst/>
          </a:prstGeom>
          <a:noFill/>
        </p:spPr>
        <p:txBody>
          <a:bodyPr wrap="square">
            <a:spAutoFit/>
          </a:bodyPr>
          <a:lstStyle/>
          <a:p>
            <a:pPr>
              <a:spcAft>
                <a:spcPts val="1000"/>
              </a:spcAft>
              <a:defRPr sz="1600" b="1">
                <a:solidFill>
                  <a:srgbClr val="0F172A"/>
                </a:solidFill>
                <a:latin typeface="Arial"/>
              </a:defRPr>
            </a:pPr>
            <a:r>
              <a:t>💰 Cost &amp; Operational Efficiency</a:t>
            </a:r>
          </a:p>
          <a:p>
            <a:pPr>
              <a:spcAft>
                <a:spcPts val="600"/>
              </a:spcAft>
              <a:defRPr sz="1300">
                <a:solidFill>
                  <a:srgbClr val="1E293B"/>
                </a:solidFill>
                <a:latin typeface="Arial"/>
              </a:defRPr>
            </a:pPr>
            <a:r>
              <a:t>•  Automates up to 80% of routine questions.</a:t>
            </a:r>
          </a:p>
          <a:p>
            <a:pPr>
              <a:spcAft>
                <a:spcPts val="600"/>
              </a:spcAft>
              <a:defRPr sz="1300">
                <a:solidFill>
                  <a:srgbClr val="1E293B"/>
                </a:solidFill>
                <a:latin typeface="Arial"/>
              </a:defRPr>
            </a:pPr>
            <a:r>
              <a:t>•  Reduces human support workload.</a:t>
            </a:r>
          </a:p>
          <a:p>
            <a:pPr>
              <a:spcAft>
                <a:spcPts val="600"/>
              </a:spcAft>
              <a:defRPr sz="1300">
                <a:solidFill>
                  <a:srgbClr val="1E293B"/>
                </a:solidFill>
                <a:latin typeface="Arial"/>
              </a:defRPr>
            </a:pPr>
            <a:r>
              <a:t>•  Saves infrastructure &amp; API costs with RAG search.</a:t>
            </a:r>
          </a:p>
        </p:txBody>
      </p:sp>
      <p:sp>
        <p:nvSpPr>
          <p:cNvPr id="8" name="Rounded Rectangle 7"/>
          <p:cNvSpPr/>
          <p:nvPr/>
        </p:nvSpPr>
        <p:spPr>
          <a:xfrm>
            <a:off x="8046720" y="1645920"/>
            <a:ext cx="3383280" cy="4572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229600" y="1828800"/>
            <a:ext cx="3017520" cy="4206240"/>
          </a:xfrm>
          <a:prstGeom prst="rect">
            <a:avLst/>
          </a:prstGeom>
          <a:noFill/>
        </p:spPr>
        <p:txBody>
          <a:bodyPr wrap="square">
            <a:spAutoFit/>
          </a:bodyPr>
          <a:lstStyle/>
          <a:p>
            <a:pPr>
              <a:spcAft>
                <a:spcPts val="1000"/>
              </a:spcAft>
              <a:defRPr sz="1600" b="1">
                <a:solidFill>
                  <a:srgbClr val="0F172A"/>
                </a:solidFill>
                <a:latin typeface="Arial"/>
              </a:defRPr>
            </a:pPr>
            <a:r>
              <a:t>⚡ Zero-Migration Simplicity</a:t>
            </a:r>
          </a:p>
          <a:p>
            <a:pPr>
              <a:spcAft>
                <a:spcPts val="600"/>
              </a:spcAft>
              <a:defRPr sz="1300">
                <a:solidFill>
                  <a:srgbClr val="1E293B"/>
                </a:solidFill>
                <a:latin typeface="Arial"/>
              </a:defRPr>
            </a:pPr>
            <a:r>
              <a:t>•  db.create_all() auto schema creation.</a:t>
            </a:r>
          </a:p>
          <a:p>
            <a:pPr>
              <a:spcAft>
                <a:spcPts val="600"/>
              </a:spcAft>
              <a:defRPr sz="1300">
                <a:solidFill>
                  <a:srgbClr val="1E293B"/>
                </a:solidFill>
                <a:latin typeface="Arial"/>
              </a:defRPr>
            </a:pPr>
            <a:r>
              <a:t>•  Works cleanly with SQLite &amp; PostgreSQL.</a:t>
            </a:r>
          </a:p>
          <a:p>
            <a:pPr>
              <a:spcAft>
                <a:spcPts val="600"/>
              </a:spcAft>
              <a:defRPr sz="1300">
                <a:solidFill>
                  <a:srgbClr val="1E293B"/>
                </a:solidFill>
                <a:latin typeface="Arial"/>
              </a:defRPr>
            </a:pPr>
            <a:r>
              <a:t>•  100% production-ready Gunicorn deployment.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365760"/>
          </a:xfrm>
          <a:prstGeom prst="rect">
            <a:avLst/>
          </a:prstGeom>
          <a:noFill/>
        </p:spPr>
        <p:txBody>
          <a:bodyPr wrap="square">
            <a:spAutoFit/>
          </a:bodyPr>
          <a:lstStyle/>
          <a:p>
            <a:pPr>
              <a:defRPr sz="1000" b="1">
                <a:solidFill>
                  <a:srgbClr val="0EA5E9"/>
                </a:solidFill>
                <a:latin typeface="Arial"/>
              </a:defRPr>
            </a:pPr>
            <a:r>
              <a:t>AI-POWERED CUSTOMER SUPPORT PLATFORM</a:t>
            </a:r>
          </a:p>
        </p:txBody>
      </p:sp>
      <p:sp>
        <p:nvSpPr>
          <p:cNvPr id="3" name="TextBox 2"/>
          <p:cNvSpPr txBox="1"/>
          <p:nvPr/>
        </p:nvSpPr>
        <p:spPr>
          <a:xfrm>
            <a:off x="731520" y="640080"/>
            <a:ext cx="10698480" cy="731520"/>
          </a:xfrm>
          <a:prstGeom prst="rect">
            <a:avLst/>
          </a:prstGeom>
          <a:noFill/>
        </p:spPr>
        <p:txBody>
          <a:bodyPr wrap="square">
            <a:spAutoFit/>
          </a:bodyPr>
          <a:lstStyle/>
          <a:p>
            <a:pPr>
              <a:defRPr sz="2400" b="1">
                <a:solidFill>
                  <a:srgbClr val="0F172A"/>
                </a:solidFill>
                <a:latin typeface="Arial"/>
              </a:defRPr>
            </a:pPr>
            <a:r>
              <a:t>Future System Enhancements &amp; Scope</a:t>
            </a:r>
          </a:p>
        </p:txBody>
      </p:sp>
      <p:sp>
        <p:nvSpPr>
          <p:cNvPr id="4" name="Rounded Rectangle 3"/>
          <p:cNvSpPr/>
          <p:nvPr/>
        </p:nvSpPr>
        <p:spPr>
          <a:xfrm>
            <a:off x="731520" y="1645920"/>
            <a:ext cx="5120640" cy="21945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0" y="1828800"/>
            <a:ext cx="4754880" cy="1828800"/>
          </a:xfrm>
          <a:prstGeom prst="rect">
            <a:avLst/>
          </a:prstGeom>
          <a:noFill/>
        </p:spPr>
        <p:txBody>
          <a:bodyPr wrap="square">
            <a:spAutoFit/>
          </a:bodyPr>
          <a:lstStyle/>
          <a:p>
            <a:pPr>
              <a:spcAft>
                <a:spcPts val="1000"/>
              </a:spcAft>
              <a:defRPr sz="1600" b="1">
                <a:solidFill>
                  <a:srgbClr val="0F172A"/>
                </a:solidFill>
                <a:latin typeface="Arial"/>
              </a:defRPr>
            </a:pPr>
            <a:r>
              <a:t>🎙️ Voice &amp; Multi-Modal Input</a:t>
            </a:r>
          </a:p>
          <a:p>
            <a:pPr>
              <a:spcAft>
                <a:spcPts val="600"/>
              </a:spcAft>
              <a:defRPr sz="1300">
                <a:solidFill>
                  <a:srgbClr val="1E293B"/>
                </a:solidFill>
                <a:latin typeface="Arial"/>
              </a:defRPr>
            </a:pPr>
            <a:r>
              <a:t>•  Integrate Speech-to-Text for real-time voice support.</a:t>
            </a:r>
          </a:p>
          <a:p>
            <a:pPr>
              <a:spcAft>
                <a:spcPts val="600"/>
              </a:spcAft>
              <a:defRPr sz="1300">
                <a:solidFill>
                  <a:srgbClr val="1E293B"/>
                </a:solidFill>
                <a:latin typeface="Arial"/>
              </a:defRPr>
            </a:pPr>
            <a:r>
              <a:t>•  Support image &amp; document attachment analysis.</a:t>
            </a:r>
          </a:p>
        </p:txBody>
      </p:sp>
      <p:sp>
        <p:nvSpPr>
          <p:cNvPr id="6" name="Rounded Rectangle 5"/>
          <p:cNvSpPr/>
          <p:nvPr/>
        </p:nvSpPr>
        <p:spPr>
          <a:xfrm>
            <a:off x="6217920" y="1645920"/>
            <a:ext cx="5212080" cy="21945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400800" y="1828800"/>
            <a:ext cx="4846320" cy="1828800"/>
          </a:xfrm>
          <a:prstGeom prst="rect">
            <a:avLst/>
          </a:prstGeom>
          <a:noFill/>
        </p:spPr>
        <p:txBody>
          <a:bodyPr wrap="square">
            <a:spAutoFit/>
          </a:bodyPr>
          <a:lstStyle/>
          <a:p>
            <a:pPr>
              <a:spcAft>
                <a:spcPts val="1000"/>
              </a:spcAft>
              <a:defRPr sz="1600" b="1">
                <a:solidFill>
                  <a:srgbClr val="0F172A"/>
                </a:solidFill>
                <a:latin typeface="Arial"/>
              </a:defRPr>
            </a:pPr>
            <a:r>
              <a:t>🌐 Multi-Language &amp; Localization</a:t>
            </a:r>
          </a:p>
          <a:p>
            <a:pPr>
              <a:spcAft>
                <a:spcPts val="600"/>
              </a:spcAft>
              <a:defRPr sz="1300">
                <a:solidFill>
                  <a:srgbClr val="1E293B"/>
                </a:solidFill>
                <a:latin typeface="Arial"/>
              </a:defRPr>
            </a:pPr>
            <a:r>
              <a:t>•  Implement automatic language translation for international users.</a:t>
            </a:r>
          </a:p>
          <a:p>
            <a:pPr>
              <a:spcAft>
                <a:spcPts val="600"/>
              </a:spcAft>
              <a:defRPr sz="1300">
                <a:solidFill>
                  <a:srgbClr val="1E293B"/>
                </a:solidFill>
                <a:latin typeface="Arial"/>
              </a:defRPr>
            </a:pPr>
            <a:r>
              <a:t>•  Localized UI themes and responses.</a:t>
            </a:r>
          </a:p>
        </p:txBody>
      </p:sp>
      <p:sp>
        <p:nvSpPr>
          <p:cNvPr id="8" name="Rounded Rectangle 7"/>
          <p:cNvSpPr/>
          <p:nvPr/>
        </p:nvSpPr>
        <p:spPr>
          <a:xfrm>
            <a:off x="731520" y="4114800"/>
            <a:ext cx="5120640" cy="21945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14400" y="4297680"/>
            <a:ext cx="4754880" cy="1828800"/>
          </a:xfrm>
          <a:prstGeom prst="rect">
            <a:avLst/>
          </a:prstGeom>
          <a:noFill/>
        </p:spPr>
        <p:txBody>
          <a:bodyPr wrap="square">
            <a:spAutoFit/>
          </a:bodyPr>
          <a:lstStyle/>
          <a:p>
            <a:pPr>
              <a:spcAft>
                <a:spcPts val="1000"/>
              </a:spcAft>
              <a:defRPr sz="1600" b="1">
                <a:solidFill>
                  <a:srgbClr val="0F172A"/>
                </a:solidFill>
                <a:latin typeface="Arial"/>
              </a:defRPr>
            </a:pPr>
            <a:r>
              <a:t>📱 Mobile Applications</a:t>
            </a:r>
          </a:p>
          <a:p>
            <a:pPr>
              <a:spcAft>
                <a:spcPts val="600"/>
              </a:spcAft>
              <a:defRPr sz="1300">
                <a:solidFill>
                  <a:srgbClr val="1E293B"/>
                </a:solidFill>
                <a:latin typeface="Arial"/>
              </a:defRPr>
            </a:pPr>
            <a:r>
              <a:t>•  Develop native Android (Kotlin) and iOS (Swift) apps.</a:t>
            </a:r>
          </a:p>
          <a:p>
            <a:pPr>
              <a:spcAft>
                <a:spcPts val="600"/>
              </a:spcAft>
              <a:defRPr sz="1300">
                <a:solidFill>
                  <a:srgbClr val="1E293B"/>
                </a:solidFill>
                <a:latin typeface="Arial"/>
              </a:defRPr>
            </a:pPr>
            <a:r>
              <a:t>•  Push notifications for ticket updates.</a:t>
            </a:r>
          </a:p>
        </p:txBody>
      </p:sp>
      <p:sp>
        <p:nvSpPr>
          <p:cNvPr id="10" name="Rounded Rectangle 9"/>
          <p:cNvSpPr/>
          <p:nvPr/>
        </p:nvSpPr>
        <p:spPr>
          <a:xfrm>
            <a:off x="6217920" y="4114800"/>
            <a:ext cx="5212080" cy="21945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00800" y="4297680"/>
            <a:ext cx="4846320" cy="1828800"/>
          </a:xfrm>
          <a:prstGeom prst="rect">
            <a:avLst/>
          </a:prstGeom>
          <a:noFill/>
        </p:spPr>
        <p:txBody>
          <a:bodyPr wrap="square">
            <a:spAutoFit/>
          </a:bodyPr>
          <a:lstStyle/>
          <a:p>
            <a:pPr>
              <a:spcAft>
                <a:spcPts val="1000"/>
              </a:spcAft>
              <a:defRPr sz="1600" b="1">
                <a:solidFill>
                  <a:srgbClr val="0F172A"/>
                </a:solidFill>
                <a:latin typeface="Arial"/>
              </a:defRPr>
            </a:pPr>
            <a:r>
              <a:t>🔮 Predictive Analytics &amp; Sentiment AI</a:t>
            </a:r>
          </a:p>
          <a:p>
            <a:pPr>
              <a:spcAft>
                <a:spcPts val="600"/>
              </a:spcAft>
              <a:defRPr sz="1300">
                <a:solidFill>
                  <a:srgbClr val="1E293B"/>
                </a:solidFill>
                <a:latin typeface="Arial"/>
              </a:defRPr>
            </a:pPr>
            <a:r>
              <a:t>•  ML model predicting potential customer churn.</a:t>
            </a:r>
          </a:p>
          <a:p>
            <a:pPr>
              <a:spcAft>
                <a:spcPts val="600"/>
              </a:spcAft>
              <a:defRPr sz="1300">
                <a:solidFill>
                  <a:srgbClr val="1E293B"/>
                </a:solidFill>
                <a:latin typeface="Arial"/>
              </a:defRPr>
            </a:pPr>
            <a:r>
              <a:t>•  Automated SLA breach warning triggers.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365760"/>
          </a:xfrm>
          <a:prstGeom prst="rect">
            <a:avLst/>
          </a:prstGeom>
          <a:noFill/>
        </p:spPr>
        <p:txBody>
          <a:bodyPr wrap="square">
            <a:spAutoFit/>
          </a:bodyPr>
          <a:lstStyle/>
          <a:p>
            <a:pPr>
              <a:defRPr sz="1000" b="1">
                <a:solidFill>
                  <a:srgbClr val="0EA5E9"/>
                </a:solidFill>
                <a:latin typeface="Arial"/>
              </a:defRPr>
            </a:pPr>
            <a:r>
              <a:t>AI-POWERED CUSTOMER SUPPORT PLATFORM</a:t>
            </a:r>
          </a:p>
        </p:txBody>
      </p:sp>
      <p:sp>
        <p:nvSpPr>
          <p:cNvPr id="3" name="TextBox 2"/>
          <p:cNvSpPr txBox="1"/>
          <p:nvPr/>
        </p:nvSpPr>
        <p:spPr>
          <a:xfrm>
            <a:off x="731520" y="640080"/>
            <a:ext cx="10698480" cy="731520"/>
          </a:xfrm>
          <a:prstGeom prst="rect">
            <a:avLst/>
          </a:prstGeom>
          <a:noFill/>
        </p:spPr>
        <p:txBody>
          <a:bodyPr wrap="square">
            <a:spAutoFit/>
          </a:bodyPr>
          <a:lstStyle/>
          <a:p>
            <a:pPr>
              <a:defRPr sz="2400" b="1">
                <a:solidFill>
                  <a:srgbClr val="0F172A"/>
                </a:solidFill>
                <a:latin typeface="Arial"/>
              </a:defRPr>
            </a:pPr>
            <a:r>
              <a:t>Conclusion &amp; Summary</a:t>
            </a:r>
          </a:p>
        </p:txBody>
      </p:sp>
      <p:sp>
        <p:nvSpPr>
          <p:cNvPr id="4" name="Rounded Rectangle 3"/>
          <p:cNvSpPr/>
          <p:nvPr/>
        </p:nvSpPr>
        <p:spPr>
          <a:xfrm>
            <a:off x="731520" y="1645920"/>
            <a:ext cx="10698480" cy="4572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0" y="1828800"/>
            <a:ext cx="10332720" cy="4206240"/>
          </a:xfrm>
          <a:prstGeom prst="rect">
            <a:avLst/>
          </a:prstGeom>
          <a:noFill/>
        </p:spPr>
        <p:txBody>
          <a:bodyPr wrap="square">
            <a:spAutoFit/>
          </a:bodyPr>
          <a:lstStyle/>
          <a:p>
            <a:pPr>
              <a:spcAft>
                <a:spcPts val="1000"/>
              </a:spcAft>
              <a:defRPr sz="1600" b="1">
                <a:solidFill>
                  <a:srgbClr val="0F172A"/>
                </a:solidFill>
                <a:latin typeface="Arial"/>
              </a:defRPr>
            </a:pPr>
            <a:r>
              <a:t>🎯 Project Impact Summary</a:t>
            </a:r>
          </a:p>
          <a:p>
            <a:pPr>
              <a:spcAft>
                <a:spcPts val="600"/>
              </a:spcAft>
              <a:defRPr sz="1300">
                <a:solidFill>
                  <a:srgbClr val="1E293B"/>
                </a:solidFill>
                <a:latin typeface="Arial"/>
              </a:defRPr>
            </a:pPr>
            <a:r>
              <a:t>•  Successfully developed and deployed a modern, production-ready AI Customer Support &amp; Ticket Management Platform.</a:t>
            </a:r>
          </a:p>
          <a:p>
            <a:pPr>
              <a:spcAft>
                <a:spcPts val="600"/>
              </a:spcAft>
              <a:defRPr sz="1300">
                <a:solidFill>
                  <a:srgbClr val="1E293B"/>
                </a:solidFill>
                <a:latin typeface="Arial"/>
              </a:defRPr>
            </a:pPr>
            <a:r>
              <a:t>•  Demonstrated zero-friction guest AI assistance with RAG Knowledge Base search and real LLM integration.</a:t>
            </a:r>
          </a:p>
          <a:p>
            <a:pPr>
              <a:spcAft>
                <a:spcPts val="600"/>
              </a:spcAft>
              <a:defRPr sz="1300">
                <a:solidFill>
                  <a:srgbClr val="1E293B"/>
                </a:solidFill>
                <a:latin typeface="Arial"/>
              </a:defRPr>
            </a:pPr>
            <a:r>
              <a:t>•  Implemented seamless automated ticket escalation for low-confidence queries without requiring user accounts.</a:t>
            </a:r>
          </a:p>
          <a:p>
            <a:pPr>
              <a:spcAft>
                <a:spcPts val="600"/>
              </a:spcAft>
              <a:defRPr sz="1300">
                <a:solidFill>
                  <a:srgbClr val="1E293B"/>
                </a:solidFill>
                <a:latin typeface="Arial"/>
              </a:defRPr>
            </a:pPr>
            <a:r>
              <a:t>•  Delivered a secure, single-auth Admin Management Console powered by Flask-Login with live Chart.js analytics and CSV report export.</a:t>
            </a:r>
          </a:p>
          <a:p>
            <a:pPr>
              <a:spcAft>
                <a:spcPts val="600"/>
              </a:spcAft>
              <a:defRPr sz="1300">
                <a:solidFill>
                  <a:srgbClr val="1E293B"/>
                </a:solidFill>
                <a:latin typeface="Arial"/>
              </a:defRPr>
            </a:pPr>
            <a:r>
              <a:t>•  Achieved 100% clean automated unit test execution and zero-migration cloud deployment on Render via Gunicorn.</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F2043"/>
        </a:solidFill>
        <a:effectLst/>
      </p:bgPr>
    </p:bg>
    <p:spTree>
      <p:nvGrpSpPr>
        <p:cNvPr id="1" name=""/>
        <p:cNvGrpSpPr/>
        <p:nvPr/>
      </p:nvGrpSpPr>
      <p:grpSpPr>
        <a:xfrm>
          <a:off x="0" y="0"/>
          <a:ext cx="0" cy="0"/>
          <a:chOff x="0" y="0"/>
          <a:chExt cx="0" cy="0"/>
        </a:xfrm>
      </p:grpSpPr>
      <p:sp>
        <p:nvSpPr>
          <p:cNvPr id="2" name="TextBox 1"/>
          <p:cNvSpPr txBox="1"/>
          <p:nvPr/>
        </p:nvSpPr>
        <p:spPr>
          <a:xfrm>
            <a:off x="914552" y="3052689"/>
            <a:ext cx="10362895" cy="1645920"/>
          </a:xfrm>
          <a:prstGeom prst="rect">
            <a:avLst/>
          </a:prstGeom>
          <a:noFill/>
        </p:spPr>
        <p:txBody>
          <a:bodyPr wrap="square">
            <a:spAutoFit/>
          </a:bodyPr>
          <a:lstStyle/>
          <a:p>
            <a:pPr algn="ctr">
              <a:defRPr sz="4400" b="1">
                <a:solidFill>
                  <a:srgbClr val="FFFFFF"/>
                </a:solidFill>
              </a:defRPr>
            </a:pPr>
            <a:r>
              <a:rPr dirty="0"/>
              <a:t>Thank You!</a:t>
            </a:r>
          </a:p>
          <a:p>
            <a:pPr algn="ctr">
              <a:defRPr sz="2000">
                <a:solidFill>
                  <a:srgbClr val="0EA5E9"/>
                </a:solidFill>
              </a:defRPr>
            </a:pPr>
            <a:r>
              <a:rPr dirty="0"/>
              <a:t>Questions &amp; Answers / Project Review Session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TotalTime>
  <Words>2702</Words>
  <Application>Microsoft Office PowerPoint</Application>
  <PresentationFormat>Widescreen</PresentationFormat>
  <Paragraphs>266</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karthik pamulapati</cp:lastModifiedBy>
  <cp:revision>1</cp:revision>
  <dcterms:created xsi:type="dcterms:W3CDTF">2013-01-27T09:14:16Z</dcterms:created>
  <dcterms:modified xsi:type="dcterms:W3CDTF">2026-07-31T11:50:58Z</dcterms:modified>
  <cp:category/>
</cp:coreProperties>
</file>