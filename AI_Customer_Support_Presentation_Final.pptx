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guide, panel members, and peers. I am Pamulapati Karthik from the CSE Department. Today, I am presenting my project titled 'AI-Powered Customer Support and Ticket Management System'.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service is moving towards instant automation. AI chatbots allow businesses to handle routine customer questions 24/7 without delays or human agent fatigue.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helpdesks suffer from long wait times, high costs, and customer frustration. Legacy rule bots fail easily, and forcing user registration causes high drop-off.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objectives focus on automating routine support, drastically improving response times, reducing support staff workload, and providing continuous 24/7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Legacy systems suffer from static rule-based decision trees and manual ticket processing, creating high costs, slow resolution times, and poor user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proposed system combines an unauthenticated AI chatbot, automatic ticket generation for low-confidence queries, Knowledge Base integration, and a centralized Admin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architecture connects Customer UI, Flask Application Backend, AI Engine with RAG search, Database layer, Ticket Management System, and Administrator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consists of five modular components: Customer Module, Chat Module, Ticket Management Module, Knowledge Base Module, and Administrator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database design features 6 core tables: Admin, ChatSessions, Messages, Tickets, KnowledgeBase, and ActivityLogs, with automatic schema creation via db.create_all().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5-step workflow connects customer submission, AI processing, AI response, automated ticket generation when necessary, and administrator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features include real-time chat interface, automated ticket creation, administrative search and dashboard, Chart.js analytics, and CSV report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tech stack relies on Python 3.12, Flask, SQLAlchemy, SQLite/PostgreSQL, Bootstrap 5, Jinja2, GitHub, Render, and OpenAI-compatible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Challenges included resolving Gunicorn AppImportErrors on Render, removing database migration conflicts, building local LLM fallback clients, and optimizing UI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outcomes include reducing response time to under 2 seconds, automating routine queries, improving customer experience, and simplifying helpdesk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enhancements include adding voice interaction, multi-language support, native mobile apps, and advanced predictive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this project demonstrates how combining Large Language Models, Knowledge Base RAG retrieval, and clean web engineering can transform customer support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very much for your time, guidance, and attention throughout this presentation. I am now open to your questions and project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AI-Powered Customer Support and Ticket Management System</a:t>
            </a:r>
          </a:p>
          <a:p>
            <a:pPr>
              <a:defRPr sz="1600">
                <a:solidFill>
                  <a:srgbClr val="0EA5E9"/>
                </a:solidFill>
                <a:latin typeface="Arial"/>
              </a:defRPr>
            </a:pPr>
            <a:r>
              <a:t>Automated AI Assistance, RAG Knowledge Base Retrieval &amp; Intelligent Support Escalation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474720"/>
            <a:ext cx="10362895" cy="2560320"/>
          </a:xfrm>
          <a:prstGeom prst="roundRect">
            <a:avLst/>
          </a:prstGeom>
          <a:solidFill>
            <a:srgbClr val="1A2B5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400">
                <a:solidFill>
                  <a:srgbClr val="0EA5E9"/>
                </a:solidFill>
              </a:rPr>
              <a:t>Student Name:      </a:t>
            </a:r>
            <a:r>
              <a:rPr sz="1400">
                <a:solidFill>
                  <a:srgbClr val="FFFFFF"/>
                </a:solidFill>
              </a:rPr>
              <a:t>Pamulapati Karthik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A5E9"/>
                </a:solidFill>
              </a:rPr>
              <a:t>Roll Number:       </a:t>
            </a:r>
            <a:r>
              <a:rPr sz="1400">
                <a:solidFill>
                  <a:srgbClr val="FFFFFF"/>
                </a:solidFill>
              </a:rPr>
              <a:t>22N81A05K2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A5E9"/>
                </a:solidFill>
              </a:rPr>
              <a:t>Department:        </a:t>
            </a:r>
            <a:r>
              <a:rPr sz="1400">
                <a:solidFill>
                  <a:srgbClr val="FFFFFF"/>
                </a:solidFill>
              </a:rPr>
              <a:t>Computer Science &amp; Engineering (CSE)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A5E9"/>
                </a:solidFill>
              </a:rPr>
              <a:t>College Name:      </a:t>
            </a:r>
            <a:r>
              <a:rPr sz="1400">
                <a:solidFill>
                  <a:srgbClr val="FFFFFF"/>
                </a:solidFill>
              </a:rPr>
              <a:t>Sree Dattha Group of Institutions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EA5E9"/>
                </a:solidFill>
              </a:rPr>
              <a:t>Project Guide:     </a:t>
            </a:r>
            <a:r>
              <a:rPr sz="1400">
                <a:solidFill>
                  <a:srgbClr val="FFFFFF"/>
                </a:solidFill>
              </a:rPr>
              <a:t>Dr. A. Ramesh Kumar (HOD &amp; Professor)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Introduction to AI-Based Customer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🌐 Overview of AI Support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AI customer support transforms static helpdesks into active 24/7 conversational agents.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Combines Natural Language Processing (NLP) with domain-specific knowledge bases.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Delivers instant assistance to website visitors without human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🤖 Importance of Automation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Eliminates repetitive manual query handling by support staff.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Scales customer service capacity seamlessly during high-volume spikes.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Ensures consistent, accurate responses across all customer touchpoints.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⚡ Benefits of Intelligent Chat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Zero customer registration friction on public landing pages.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Reduces average response time from hours to under 2 seconds.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Automates ticket escalation when queries require human expertise.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Statement: Helpdesk Bottlenecks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⏳ Slow Response Times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Customers wait 24-48 hours for replies to simple email inquiries.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Peak traffic leads to massive ticket backlogs and customer churn.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💸 High Operational Costs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Maintaining round-the-clock human support shifts is cost-prohibitive.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Scaling human teams linearly with user growth is economically unsustainable.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🚪 Limited Availability &amp; Registration Barriers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Legacy support hours leave weekend and overnight gaps.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Forcing users to register before asking basic questions causes high bounce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⚠️ Lack of Automation &amp; Poor UX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Rule-based bots fail on natural phrasing without generating tickets.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Fragmented tools cause poor customer experience and staff burnout.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Project Objectives &amp; Key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EA5E9"/>
                </a:solidFill>
              </a:rPr>
              <a:t>🎯 1. Automate Customer Support: </a:t>
            </a:r>
            <a:r>
              <a:rPr sz="1300">
                <a:solidFill>
                  <a:srgbClr val="1E293B"/>
                </a:solidFill>
              </a:rPr>
              <a:t>Deploy an intelligent virtual assistant capable of resolving repetitive product and technical queries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EA5E9"/>
                </a:solidFill>
              </a:rPr>
              <a:t>🎯 2. Improve Response Time: </a:t>
            </a:r>
            <a:r>
              <a:rPr sz="1300">
                <a:solidFill>
                  <a:srgbClr val="1E293B"/>
                </a:solidFill>
              </a:rPr>
              <a:t>Cut average response time from hours to under 2 seconds using RAG Knowledge Base and real LLM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EA5E9"/>
                </a:solidFill>
              </a:rPr>
              <a:t>🎯 3. Increase Customer Satisfaction: </a:t>
            </a:r>
            <a:r>
              <a:rPr sz="1300">
                <a:solidFill>
                  <a:srgbClr val="1E293B"/>
                </a:solidFill>
              </a:rPr>
              <a:t>Provide instant, accurate, natural language answers with markdown formatting and conversation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EA5E9"/>
                </a:solidFill>
              </a:rPr>
              <a:t>🎯 4. Reduce Support Workload: </a:t>
            </a:r>
            <a:r>
              <a:rPr sz="1300">
                <a:solidFill>
                  <a:srgbClr val="1E293B"/>
                </a:solidFill>
              </a:rPr>
              <a:t>Automate up to 80% of routine inquiries, allowing human agents to focus on complex escalation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EA5E9"/>
                </a:solidFill>
              </a:rPr>
              <a:t>🎯 5. Provide Continuous Support: </a:t>
            </a:r>
            <a:r>
              <a:rPr sz="1300">
                <a:solidFill>
                  <a:srgbClr val="1E293B"/>
                </a:solidFill>
              </a:rPr>
              <a:t>Ensure 24/7 availability with automated ticket creation whenever AI confidence falls below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Existing Support System vs.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❌ Existing Traditional Support Model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Relies heavily on manual ticketing portals and email forms.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Mandatory user registration required prior to submitting queries.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Fixed working hours resulting in weekend and overnight gaps.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Static decision-tree rule bots with limited pattern matching.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No natural language comprehension or context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📉 Operational Consequences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High customer churn due to long wait times (24-48 hours).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Higher support desk operational budget and agent burnout.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High visitor bounce rates caused by mandatory login screens.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Frequent frustration when rule bots loop on unrecognized phrases.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Inconsistent ticket tracking and fragmented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Proposed System Architecture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🤖 AI-Powered Chatbot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Immediate guest access without customer login.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Real LLM integration (OpenAI, Gemini, Ollama).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Pre-LLM Knowledge Base RAG lookup.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Session conversation memory &amp; markdown 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🎫 Automatic Ticket Generation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Confidence &amp; sentiment threshold evaluation.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Instant modal prompt when AI confidence is &lt; 0.6.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Generates unique Ticket ID (e.g. TICK-8F92A1B3).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Stores structured tickets directly in 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⚙️ Admin Dashboard &amp; Analytics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Single-auth Admin login (/admin/login).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Master ticket queue management &amp; replies.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Knowledge Base FAQ CRUD management.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Chart.js analytics &amp; CSV report exporter.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Architecture &amp; High-Level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b="1" sz="1300">
                <a:solidFill>
                  <a:srgbClr val="0EA5E9"/>
                </a:solidFill>
              </a:defRPr>
            </a:pPr>
            <a:r>
              <a:t>Customer / Guest</a:t>
            </a:r>
            <a:br/>
            <a:r>
              <a:t>User</a:t>
            </a:r>
          </a:p>
          <a:p>
            <a:pPr algn="l">
              <a:defRPr sz="1100">
                <a:solidFill>
                  <a:srgbClr val="1E293B"/>
                </a:solidFill>
              </a:defRPr>
            </a:pPr>
            <a:r>
              <a:t>• User Interface</a:t>
            </a:r>
            <a:br/>
            <a:r>
              <a:t>• Instant Chat</a:t>
            </a:r>
            <a:br/>
            <a:r>
              <a:t>• Ticket Modal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19456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Flask Application</a:t>
            </a:r>
            <a:br/>
            <a:r>
              <a:t>(Backend Engine)</a:t>
            </a:r>
          </a:p>
          <a:p>
            <a:pPr algn="l">
              <a:defRPr sz="1100">
                <a:solidFill>
                  <a:srgbClr val="1E293B"/>
                </a:solidFill>
              </a:defRPr>
            </a:pPr>
            <a:r>
              <a:t>• App Factory</a:t>
            </a:r>
            <a:br/>
            <a:r>
              <a:t>• Routing Controllers</a:t>
            </a:r>
            <a:br/>
            <a:r>
              <a:t>• Jinja2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219456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b="1" sz="1300">
                <a:solidFill>
                  <a:srgbClr val="0F2043"/>
                </a:solidFill>
              </a:defRPr>
            </a:pPr>
            <a:r>
              <a:t>AI Engine &amp; RAG</a:t>
            </a:r>
            <a:br/>
            <a:r>
              <a:t>Module</a:t>
            </a:r>
          </a:p>
          <a:p>
            <a:pPr algn="l">
              <a:defRPr sz="1100">
                <a:solidFill>
                  <a:srgbClr val="1E293B"/>
                </a:solidFill>
              </a:defRPr>
            </a:pPr>
            <a:r>
              <a:t>• KB RAG Search</a:t>
            </a:r>
            <a:br/>
            <a:r>
              <a:t>• LLM Client</a:t>
            </a:r>
            <a:br/>
            <a:r>
              <a:t>• Intent Detector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011680"/>
            <a:ext cx="18288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2194560"/>
            <a:ext cx="1645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b="1" sz="1300">
                <a:solidFill>
                  <a:srgbClr val="0F172A"/>
                </a:solidFill>
              </a:defRPr>
            </a:pPr>
            <a:r>
              <a:t>Database Layer</a:t>
            </a:r>
            <a:br/>
            <a:r>
              <a:t>(SQLAlchemy)</a:t>
            </a:r>
          </a:p>
          <a:p>
            <a:pPr algn="l">
              <a:defRPr sz="1100">
                <a:solidFill>
                  <a:srgbClr val="1E293B"/>
                </a:solidFill>
              </a:defRPr>
            </a:pPr>
            <a:r>
              <a:t>• SQLite (Dev)</a:t>
            </a:r>
            <a:br/>
            <a:r>
              <a:t>• PostgreSQL (Prod)</a:t>
            </a:r>
            <a:br/>
            <a:r>
              <a:t>• Auto Schemas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011680"/>
            <a:ext cx="13716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2194560"/>
            <a:ext cx="1188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b="1" sz="1300">
                <a:solidFill>
                  <a:srgbClr val="0EA5E9"/>
                </a:solidFill>
              </a:defRPr>
            </a:pPr>
            <a:r>
              <a:t>Admin</a:t>
            </a:r>
            <a:br/>
            <a:r>
              <a:t>Dashboard</a:t>
            </a:r>
          </a:p>
          <a:p>
            <a:pPr algn="l">
              <a:defRPr sz="1100">
                <a:solidFill>
                  <a:srgbClr val="1E293B"/>
                </a:solidFill>
              </a:defRPr>
            </a:pPr>
            <a:r>
              <a:t>• Flask-Login</a:t>
            </a:r>
            <a:br/>
            <a:r>
              <a:t>• Ticket Queue</a:t>
            </a:r>
            <a:br/>
            <a:r>
              <a:t>• CSV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Modules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👤 Customer Module: </a:t>
            </a:r>
            <a:r>
              <a:rPr sz="1200">
                <a:solidFill>
                  <a:srgbClr val="1E293B"/>
                </a:solidFill>
              </a:rPr>
              <a:t>Instant guest access on homepage. | Zero login or registration required. | Interactive Bootstrap 5 dark theme.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💬 Chat Module: </a:t>
            </a:r>
            <a:r>
              <a:rPr sz="1200">
                <a:solidFill>
                  <a:srgbClr val="1E293B"/>
                </a:solidFill>
              </a:rPr>
              <a:t>Real-time streaming typing animation. | Marked.js markdown rendering for code. | Session conversation memory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🎫 Ticket Management Module: </a:t>
            </a:r>
            <a:r>
              <a:rPr sz="1200">
                <a:solidFill>
                  <a:srgbClr val="1E293B"/>
                </a:solidFill>
              </a:rPr>
              <a:t>Automated Ticket ID generation (TICK-XXXXXXXX). | Captures Name, Email, Phone, Priority. | Database persistence &amp; status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📚 Knowledge Base Module: </a:t>
            </a:r>
            <a:r>
              <a:rPr sz="1200">
                <a:solidFill>
                  <a:srgbClr val="1E293B"/>
                </a:solidFill>
              </a:rPr>
              <a:t>Pre-LLM RAG FAQ pattern lookup. | Dynamic CRUD management by Admin. | Reduces external LLM API costs.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⚙️ Administrator Module: </a:t>
            </a:r>
            <a:r>
              <a:rPr sz="1200">
                <a:solidFill>
                  <a:srgbClr val="1E293B"/>
                </a:solidFill>
              </a:rPr>
              <a:t>Flask-Login protected authentication. | Ticket reply threading &amp; status controls. | Chart.js analytics &amp; CSV report exporter.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Database Design &amp; Relational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🗄️ Admin Table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id (PK)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email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username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password_hash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role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created_at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🗄️ ChatSessions Table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id (PK)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session_id (Index)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title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status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🗄️ Messages Table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id (PK)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session_id (FK)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sender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content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intent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sentiment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🗄️ Tickets Table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id (PK)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ticket_code (Unique)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customer_name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email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phone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🗄️ KnowledgeBase Table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id (PK)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question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answer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category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is_published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🗄️ ActivityLogs Table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id (PK)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admin_id (FK)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action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details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timestamp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End-to-End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Step 1: Customer Submits Query: </a:t>
            </a:r>
            <a:r>
              <a:rPr sz="1300">
                <a:solidFill>
                  <a:srgbClr val="1E293B"/>
                </a:solidFill>
              </a:rPr>
              <a:t>Customer opens website and types query into instant ChatGPT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Step 2: AI Processes Request: </a:t>
            </a:r>
            <a:r>
              <a:rPr sz="1300">
                <a:solidFill>
                  <a:srgbClr val="1E293B"/>
                </a:solidFill>
              </a:rPr>
              <a:t>System performs pre-LLM Knowledge Base RAG search &amp; intent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Step 3: AI Generates Response: </a:t>
            </a:r>
            <a:r>
              <a:rPr sz="1300">
                <a:solidFill>
                  <a:srgbClr val="1E293B"/>
                </a:solidFill>
              </a:rPr>
              <a:t>Renders answer in markdown format with session conversation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Step 4: Ticket Generation: </a:t>
            </a:r>
            <a:r>
              <a:rPr sz="1300">
                <a:solidFill>
                  <a:srgbClr val="1E293B"/>
                </a:solidFill>
              </a:rPr>
              <a:t>If AI confidence is low (&lt; 0.6), system prompts guest &amp; generates Ticket 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F172A"/>
                </a:solidFill>
              </a:rPr>
              <a:t>Step 5: Administrator Resolves: </a:t>
            </a:r>
            <a:r>
              <a:rPr sz="1300">
                <a:solidFill>
                  <a:srgbClr val="1E293B"/>
                </a:solidFill>
              </a:rPr>
              <a:t>Administrator reviews ticket in console, posts reply, and updates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Core System Features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💬 Interactive Chat Interface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Markdown formatting for code blocks and tables.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Streaming typing animation &amp; auto-scroll.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🎫 Automated Ticket Creation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Unique Ticket ID generation (TICK-XXXXXXXX).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Captures contact info without user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📊 Admin Dashboard &amp; Search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Real-time ticket queue status controls.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Search &amp; filter tickets by status or priority.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📈 Analytics &amp; Data Export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Chart.js ticket status doughnut graph.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One-click CSV report export (/admin/export/tickets).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Tools &amp;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🐍 Backend &amp; ORM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Python 3.12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Flask Framework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Flask-SQLAlchemy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Flask-Login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Gunicorn WSGI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🎨 Frontend Technologies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HTML5 &amp; CSS3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Bootstrap 5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Vanilla JavaScript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Marked.js Markdown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Jinja2 Templating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💾 Databases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SQLite (Development)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PostgreSQL (Production)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Zero-Migration Setup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db.create_all() Auto Schema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☁️ Deployment &amp; AI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OpenAI-compatible API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Gemini / Ollama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GitHub Repository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Render Cloud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Technical 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🛠️ Render Deployment &amp; AppImportError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Issue: Gunicorn could not locate Flask app instance.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Solution: Explicitly exposed app = create_app() in app/__init__.py.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💾 Database Migration &amp; Schema Mismatch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Issue: Flask-Migrate revision mismatches during cloud deploy.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Solution: Replaced Alembic with zero-migration db.create_all().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🔌 API Integration &amp; Local Fallbacks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Issue: Intermittent external LLM rate limits.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Solution: Built pre-LLM RAG KB search and intelligent local simulator.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⚡ UI UX &amp; Performance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Issue: Streaming chat rendering and mobile responsiveness.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Solution: Implemented Bootstrap 5 glassmorphism and Marked.js.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Results &amp; Project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⚡ Reduced Response Time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Queries resolved in &lt; 2 seconds.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Eliminated 24-48 hour email delays.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Instant guest access without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📈 Improved Operational Efficiency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Automates 80% of routine questions.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Seamless ticket escalation for low confidence.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Saves human agent workload.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🎯 Simplified Management Process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Centralized Admin Dashboard.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Real-time Chart.js analytics.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One-click CSV report exporter.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Future Enhancements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🎙️ Voice Support &amp; Audio Input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Integrate Speech-to-Text for real-time voice interactions.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Support audio message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🌐 Multiple Language Support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Implement automatic language translation for global users.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Localized UI themes and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📱 Mobile Applications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Develop native Android and iOS mobile applications.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Push notifications for ticket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🔮 Advanced Analytics &amp; AI Capabilities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Predictive churn analysis and SLA breach warnings.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Enhanced fine-tuned domain LLMs.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AI CUSTOMER SUPPORT &amp; TICKET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Conclusion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🎯 Project Summary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Successfully developed and deployed a modern, production-ready AI Customer Support &amp; Ticket Management Platform.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Demonstrated zero-friction guest AI assistance with RAG Knowledge Base search and real LLM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Implemented seamless automated ticket escalation for low-confidence queries without requiring user accounts.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Delivered a secure, single-auth Admin Management Console powered by Flask-Login with live Chart.js analytics and CSV report export.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Achieved 100% clean automated unit test execution and zero-migration cloud deployment on Render via Gunicorn.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0EA5E9"/>
                </a:solidFill>
              </a:defRPr>
            </a:pPr>
            <a:r>
              <a:t>Questions &amp; Answers / Project Review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3474720"/>
            <a:ext cx="7619695" cy="2377440"/>
          </a:xfrm>
          <a:prstGeom prst="roundRect">
            <a:avLst/>
          </a:prstGeom>
          <a:solidFill>
            <a:srgbClr val="1A2B50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3657600"/>
            <a:ext cx="72539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Presenter:         </a:t>
            </a:r>
            <a:r>
              <a:rPr sz="1300">
                <a:solidFill>
                  <a:srgbClr val="FFFFFF"/>
                </a:solidFill>
              </a:rPr>
              <a:t>Pamulapati Karthik (Roll No: 22N81A05K2)</a:t>
            </a:r>
          </a:p>
          <a:p>
            <a:pPr algn="ctr"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Department:        </a:t>
            </a:r>
            <a:r>
              <a:rPr sz="1300">
                <a:solidFill>
                  <a:srgbClr val="FFFFFF"/>
                </a:solidFill>
              </a:rPr>
              <a:t>Computer Science &amp; Engineering (CSE)</a:t>
            </a:r>
          </a:p>
          <a:p>
            <a:pPr algn="ctr"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College:           </a:t>
            </a:r>
            <a:r>
              <a:rPr sz="1300">
                <a:solidFill>
                  <a:srgbClr val="FFFFFF"/>
                </a:solidFill>
              </a:rPr>
              <a:t>Sree Dattha Group of Institutions</a:t>
            </a:r>
          </a:p>
          <a:p>
            <a:pPr algn="ctr"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GitHub Repository: </a:t>
            </a:r>
            <a:r>
              <a:rPr sz="1300">
                <a:solidFill>
                  <a:srgbClr val="FFFFFF"/>
                </a:solidFill>
              </a:rPr>
              <a:t>github.com/karthikpamulapti3333-debug/AI-Powered-Customer-Support-Assistant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